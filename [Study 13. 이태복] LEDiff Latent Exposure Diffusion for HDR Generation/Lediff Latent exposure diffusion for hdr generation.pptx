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9"/>
  </p:notesMasterIdLst>
  <p:sldIdLst>
    <p:sldId id="258" r:id="rId2"/>
    <p:sldId id="275" r:id="rId3"/>
    <p:sldId id="259" r:id="rId4"/>
    <p:sldId id="260" r:id="rId5"/>
    <p:sldId id="261" r:id="rId6"/>
    <p:sldId id="262" r:id="rId7"/>
    <p:sldId id="264" r:id="rId8"/>
    <p:sldId id="265" r:id="rId9"/>
    <p:sldId id="263" r:id="rId10"/>
    <p:sldId id="271" r:id="rId11"/>
    <p:sldId id="266" r:id="rId12"/>
    <p:sldId id="269" r:id="rId13"/>
    <p:sldId id="273" r:id="rId14"/>
    <p:sldId id="272" r:id="rId15"/>
    <p:sldId id="276" r:id="rId16"/>
    <p:sldId id="277" r:id="rId17"/>
    <p:sldId id="278" r:id="rId18"/>
    <p:sldId id="279" r:id="rId19"/>
    <p:sldId id="280" r:id="rId20"/>
    <p:sldId id="281" r:id="rId21"/>
    <p:sldId id="283" r:id="rId22"/>
    <p:sldId id="284" r:id="rId23"/>
    <p:sldId id="285" r:id="rId24"/>
    <p:sldId id="286" r:id="rId25"/>
    <p:sldId id="287" r:id="rId26"/>
    <p:sldId id="288" r:id="rId27"/>
    <p:sldId id="257" r:id="rId28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7553" autoAdjust="0"/>
    <p:restoredTop sz="76935" autoAdjust="0"/>
  </p:normalViewPr>
  <p:slideViewPr>
    <p:cSldViewPr snapToGrid="0" showGuides="1">
      <p:cViewPr varScale="1">
        <p:scale>
          <a:sx n="85" d="100"/>
          <a:sy n="85" d="100"/>
        </p:scale>
        <p:origin x="828" y="68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presProps" Target="presProps.xml"/><Relationship Id="rId8" Type="http://schemas.openxmlformats.org/officeDocument/2006/relationships/slide" Target="slides/slide7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30874AF-916D-406B-97B7-A1BE76CD496D}" type="datetimeFigureOut">
              <a:rPr lang="ko-KR" altLang="en-US" smtClean="0"/>
              <a:t>2026-04-27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3114F7F-5968-4F0F-A1A8-EC43D5FA998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59684990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ko-KR" dirty="0" smtClean="0"/>
              <a:t>Dynamic Range</a:t>
            </a:r>
            <a:r>
              <a:rPr lang="ko-KR" altLang="en-US" dirty="0" smtClean="0"/>
              <a:t>는 “최대값과 최소값의 </a:t>
            </a:r>
            <a:r>
              <a:rPr lang="ko-KR" altLang="en-US" dirty="0" err="1" smtClean="0"/>
              <a:t>비율”이다</a:t>
            </a:r>
            <a:r>
              <a:rPr lang="en-US" altLang="ko-KR" dirty="0" smtClean="0"/>
              <a:t>.</a:t>
            </a:r>
          </a:p>
          <a:p>
            <a:r>
              <a:rPr lang="ko-KR" altLang="en-US" dirty="0" smtClean="0"/>
              <a:t>따라서 본질적으로 </a:t>
            </a:r>
            <a:r>
              <a:rPr lang="en-US" altLang="ko-KR" dirty="0" smtClean="0"/>
              <a:t>dimensionless ratio (</a:t>
            </a:r>
            <a:r>
              <a:rPr lang="ko-KR" altLang="en-US" dirty="0" err="1" smtClean="0"/>
              <a:t>무단위</a:t>
            </a:r>
            <a:r>
              <a:rPr lang="en-US" altLang="ko-KR" dirty="0" smtClean="0"/>
              <a:t>)</a:t>
            </a:r>
          </a:p>
          <a:p>
            <a:pPr marL="0" marR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ko-KR" dirty="0" smtClean="0"/>
              <a:t>Dynamic range</a:t>
            </a:r>
            <a:r>
              <a:rPr lang="ko-KR" altLang="en-US" dirty="0" smtClean="0"/>
              <a:t>는 무엇을 기준으로 </a:t>
            </a:r>
            <a:r>
              <a:rPr lang="ko-KR" altLang="en-US" dirty="0" err="1" smtClean="0"/>
              <a:t>측정하느냐에</a:t>
            </a:r>
            <a:r>
              <a:rPr lang="ko-KR" altLang="en-US" dirty="0" smtClean="0"/>
              <a:t> 따라 정의가 달라진다</a:t>
            </a:r>
            <a:r>
              <a:rPr lang="en-US" altLang="ko-KR" dirty="0" smtClean="0"/>
              <a:t>.</a:t>
            </a:r>
          </a:p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3114F7F-5968-4F0F-A1A8-EC43D5FA998C}" type="slidenum">
              <a:rPr lang="ko-KR" altLang="en-US" smtClean="0"/>
              <a:t>3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572095796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3114F7F-5968-4F0F-A1A8-EC43D5FA998C}" type="slidenum">
              <a:rPr lang="ko-KR" altLang="en-US" smtClean="0"/>
              <a:t>17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7209900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3114F7F-5968-4F0F-A1A8-EC43D5FA998C}" type="slidenum">
              <a:rPr lang="ko-KR" altLang="en-US" smtClean="0"/>
              <a:t>20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0300048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 smtClean="0"/>
              <a:t>클릭하여 마스터 부제목 스타일 편집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CFED6D-61B1-4752-9E7F-4CADB75C87B1}" type="datetimeFigureOut">
              <a:rPr lang="ko-KR" altLang="en-US" smtClean="0"/>
              <a:t>2026-04-27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9C399F-1CC4-4DFB-A2F4-CED7A03B0BF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82744796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CFED6D-61B1-4752-9E7F-4CADB75C87B1}" type="datetimeFigureOut">
              <a:rPr lang="ko-KR" altLang="en-US" smtClean="0"/>
              <a:t>2026-04-27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9C399F-1CC4-4DFB-A2F4-CED7A03B0BF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34346387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 smtClean="0"/>
              <a:t>마스터 텍스트 스타일 편집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CFED6D-61B1-4752-9E7F-4CADB75C87B1}" type="datetimeFigureOut">
              <a:rPr lang="ko-KR" altLang="en-US" smtClean="0"/>
              <a:t>2026-04-27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9C399F-1CC4-4DFB-A2F4-CED7A03B0BF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59225629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CFED6D-61B1-4752-9E7F-4CADB75C87B1}" type="datetimeFigureOut">
              <a:rPr lang="ko-KR" altLang="en-US" smtClean="0"/>
              <a:t>2026-04-27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9C399F-1CC4-4DFB-A2F4-CED7A03B0BF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49950475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 smtClean="0"/>
              <a:t>마스터 텍스트 스타일 편집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 smtClean="0"/>
              <a:t>마스터 텍스트 스타일 편집</a:t>
            </a:r>
          </a:p>
        </p:txBody>
      </p:sp>
      <p:sp>
        <p:nvSpPr>
          <p:cNvPr id="6" name="내용 개체 틀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7" name="날짜 개체 틀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CFED6D-61B1-4752-9E7F-4CADB75C87B1}" type="datetimeFigureOut">
              <a:rPr lang="ko-KR" altLang="en-US" smtClean="0"/>
              <a:t>2026-04-27</a:t>
            </a:fld>
            <a:endParaRPr lang="ko-KR" altLang="en-US"/>
          </a:p>
        </p:txBody>
      </p:sp>
      <p:sp>
        <p:nvSpPr>
          <p:cNvPr id="8" name="바닥글 개체 틀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9C399F-1CC4-4DFB-A2F4-CED7A03B0BF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75352001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CFED6D-61B1-4752-9E7F-4CADB75C87B1}" type="datetimeFigureOut">
              <a:rPr lang="ko-KR" altLang="en-US" smtClean="0"/>
              <a:t>2026-04-27</a:t>
            </a:fld>
            <a:endParaRPr lang="ko-KR" altLang="en-US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9C399F-1CC4-4DFB-A2F4-CED7A03B0BF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06570815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CFED6D-61B1-4752-9E7F-4CADB75C87B1}" type="datetimeFigureOut">
              <a:rPr lang="ko-KR" altLang="en-US" smtClean="0"/>
              <a:t>2026-04-27</a:t>
            </a:fld>
            <a:endParaRPr lang="ko-KR" altLang="en-US"/>
          </a:p>
        </p:txBody>
      </p:sp>
      <p:sp>
        <p:nvSpPr>
          <p:cNvPr id="3" name="바닥글 개체 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9C399F-1CC4-4DFB-A2F4-CED7A03B0BF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25861823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 smtClean="0"/>
              <a:t>마스터 텍스트 스타일 편집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CFED6D-61B1-4752-9E7F-4CADB75C87B1}" type="datetimeFigureOut">
              <a:rPr lang="ko-KR" altLang="en-US" smtClean="0"/>
              <a:t>2026-04-27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9C399F-1CC4-4DFB-A2F4-CED7A03B0BF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24266849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그림 개체 틀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 smtClean="0"/>
              <a:t>마스터 텍스트 스타일 편집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CFED6D-61B1-4752-9E7F-4CADB75C87B1}" type="datetimeFigureOut">
              <a:rPr lang="ko-KR" altLang="en-US" smtClean="0"/>
              <a:t>2026-04-27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9C399F-1CC4-4DFB-A2F4-CED7A03B0BF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12758462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CFED6D-61B1-4752-9E7F-4CADB75C87B1}" type="datetimeFigureOut">
              <a:rPr lang="ko-KR" altLang="en-US" smtClean="0"/>
              <a:t>2026-04-27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9C399F-1CC4-4DFB-A2F4-CED7A03B0BF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23314088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CFED6D-61B1-4752-9E7F-4CADB75C87B1}" type="datetimeFigureOut">
              <a:rPr lang="ko-KR" altLang="en-US" smtClean="0"/>
              <a:t>2026-04-27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9C399F-1CC4-4DFB-A2F4-CED7A03B0BF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71702510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ECFED6D-61B1-4752-9E7F-4CADB75C87B1}" type="datetimeFigureOut">
              <a:rPr lang="ko-KR" altLang="en-US" smtClean="0"/>
              <a:t>2026-04-27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29C399F-1CC4-4DFB-A2F4-CED7A03B0BF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87987523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hyperlink" Target="https://en.wikipedia.org/wiki/Candela_per_square_metre" TargetMode="External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9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jpeg"/><Relationship Id="rId2" Type="http://schemas.openxmlformats.org/officeDocument/2006/relationships/image" Target="../media/image10.jpe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3.jpeg"/><Relationship Id="rId4" Type="http://schemas.openxmlformats.org/officeDocument/2006/relationships/image" Target="../media/image12.jpe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8" Type="http://schemas.openxmlformats.org/officeDocument/2006/relationships/hyperlink" Target="https://en.wikipedia.org/wiki/High_dynamic_range#High-dynamic-range_imaging" TargetMode="External"/><Relationship Id="rId3" Type="http://schemas.openxmlformats.org/officeDocument/2006/relationships/hyperlink" Target="https://www.anyhere.com/gward/hdrenc/hdr_encodings.html" TargetMode="External"/><Relationship Id="rId7" Type="http://schemas.openxmlformats.org/officeDocument/2006/relationships/hyperlink" Target="https://news.samsungdisplay.com/14820" TargetMode="External"/><Relationship Id="rId2" Type="http://schemas.openxmlformats.org/officeDocument/2006/relationships/hyperlink" Target="https://www.hdrsoft.com/resources/dri.html#hdri" TargetMode="External"/><Relationship Id="rId1" Type="http://schemas.openxmlformats.org/officeDocument/2006/relationships/slideLayout" Target="../slideLayouts/slideLayout2.xml"/><Relationship Id="rId6" Type="http://schemas.openxmlformats.org/officeDocument/2006/relationships/hyperlink" Target="https://doinghun.com/image-signal-processing-isp/" TargetMode="External"/><Relationship Id="rId5" Type="http://schemas.openxmlformats.org/officeDocument/2006/relationships/hyperlink" Target="https://www.cgkorea.co.kr/global/library/The_Ins_and_Outs_of_HDR_What_is_HDR.html" TargetMode="External"/><Relationship Id="rId4" Type="http://schemas.openxmlformats.org/officeDocument/2006/relationships/hyperlink" Target="https://openexr.com/en/latest/TechnicalIntroduction.html#the-half-data-type" TargetMode="External"/><Relationship Id="rId9" Type="http://schemas.openxmlformats.org/officeDocument/2006/relationships/hyperlink" Target="https://docs.opencv.org/3.4/d2/df0/tutorial_py_hdr.html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7040880" y="1825625"/>
            <a:ext cx="4312920" cy="4351338"/>
          </a:xfrm>
        </p:spPr>
        <p:txBody>
          <a:bodyPr>
            <a:normAutofit/>
          </a:bodyPr>
          <a:lstStyle/>
          <a:p>
            <a:r>
              <a:rPr lang="en-US" altLang="ko-KR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CVPR 2025</a:t>
            </a:r>
          </a:p>
          <a:p>
            <a:r>
              <a:rPr lang="en-US" altLang="ko-KR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Paper: </a:t>
            </a:r>
            <a:r>
              <a:rPr lang="en-US" altLang="ko-KR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https://openaccess.thecvf.com/content/CVPR2025/html/Wang_LEDiff_Latent_Exposure_Diffusion_for_HDR_Generation_CVPR_2025_paper.html</a:t>
            </a:r>
          </a:p>
          <a:p>
            <a:r>
              <a:rPr lang="en-US" altLang="ko-KR" sz="20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Github</a:t>
            </a:r>
            <a:r>
              <a:rPr lang="en-US" altLang="ko-KR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: https://github.com/Hans1984/LEDiff</a:t>
            </a:r>
            <a:endParaRPr lang="ko-KR" alt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4" name="그림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640" y="223520"/>
            <a:ext cx="6787833" cy="625759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8321673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Backgrounds</a:t>
            </a:r>
            <a:endParaRPr lang="ko-KR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76137057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Dynamic Range (DR)</a:t>
            </a:r>
            <a:endParaRPr lang="ko-KR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altLang="ko-KR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Definition</a:t>
            </a:r>
          </a:p>
          <a:p>
            <a:pPr lvl="1"/>
            <a:r>
              <a:rPr lang="en-US" altLang="ko-KR" sz="20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maximum </a:t>
            </a:r>
            <a:r>
              <a:rPr lang="en-US" altLang="ko-KR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/ minimum </a:t>
            </a:r>
            <a:r>
              <a:rPr lang="en-US" altLang="ko-KR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measurable </a:t>
            </a:r>
            <a:r>
              <a:rPr lang="en-US" altLang="ko-KR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value</a:t>
            </a:r>
          </a:p>
          <a:p>
            <a:pPr lvl="1"/>
            <a:r>
              <a:rPr lang="en-US" altLang="ko-KR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dimensionless quantity</a:t>
            </a:r>
            <a:endParaRPr lang="en-US" altLang="ko-KR" sz="20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/>
            <a:r>
              <a:rPr lang="en-US" altLang="ko-KR" sz="2000" dirty="0" smtClean="0">
                <a:solidFill>
                  <a:schemeClr val="accent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 Imaging,</a:t>
            </a:r>
          </a:p>
          <a:p>
            <a:pPr lvl="2"/>
            <a:r>
              <a:rPr lang="en-US" altLang="ko-KR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ratio of two luminance values </a:t>
            </a:r>
            <a:r>
              <a:rPr lang="en-US" altLang="ko-KR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(cd/m²)</a:t>
            </a:r>
          </a:p>
          <a:p>
            <a:pPr lvl="3"/>
            <a:r>
              <a:rPr lang="en-US" altLang="ko-KR" sz="2000" dirty="0">
                <a:latin typeface="Times New Roman" panose="02020603050405020304" pitchFamily="18" charset="0"/>
                <a:cs typeface="Times New Roman" panose="02020603050405020304" pitchFamily="18" charset="0"/>
                <a:hlinkClick r:id="rId3"/>
              </a:rPr>
              <a:t>https://</a:t>
            </a:r>
            <a:r>
              <a:rPr lang="en-US" altLang="ko-KR" sz="2000" dirty="0" smtClean="0">
                <a:latin typeface="Times New Roman" panose="02020603050405020304" pitchFamily="18" charset="0"/>
                <a:cs typeface="Times New Roman" panose="02020603050405020304" pitchFamily="18" charset="0"/>
                <a:hlinkClick r:id="rId3"/>
              </a:rPr>
              <a:t>en.wikipedia.org/wiki/Candela_per_square_metre</a:t>
            </a:r>
            <a:endParaRPr lang="en-US" altLang="ko-KR" sz="20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/>
            <a:r>
              <a:rPr lang="en-US" altLang="ko-KR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In Audio</a:t>
            </a:r>
          </a:p>
          <a:p>
            <a:pPr lvl="2"/>
            <a:r>
              <a:rPr lang="en-US" altLang="ko-KR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the ratio of the amplitude of the ~</a:t>
            </a:r>
          </a:p>
          <a:p>
            <a:pPr lvl="1"/>
            <a:r>
              <a:rPr lang="en-US" altLang="ko-KR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 Electronics</a:t>
            </a:r>
            <a:r>
              <a:rPr lang="en-US" altLang="ko-KR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..</a:t>
            </a:r>
          </a:p>
          <a:p>
            <a:pPr lvl="2"/>
            <a:r>
              <a:rPr lang="en-US" altLang="ko-KR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the </a:t>
            </a:r>
            <a:r>
              <a:rPr lang="en-US" altLang="ko-KR" dirty="0">
                <a:latin typeface="Times New Roman" panose="02020603050405020304" pitchFamily="18" charset="0"/>
                <a:cs typeface="Times New Roman" panose="02020603050405020304" pitchFamily="18" charset="0"/>
              </a:rPr>
              <a:t>ratio of a maximum level of a parameter, such as power, current, </a:t>
            </a:r>
            <a:r>
              <a:rPr lang="en-US" altLang="ko-KR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voltage </a:t>
            </a:r>
            <a:r>
              <a:rPr lang="en-US" altLang="ko-KR" dirty="0">
                <a:latin typeface="Times New Roman" panose="02020603050405020304" pitchFamily="18" charset="0"/>
                <a:cs typeface="Times New Roman" panose="02020603050405020304" pitchFamily="18" charset="0"/>
              </a:rPr>
              <a:t>or frequency, to the minimum detectable value of that parameter</a:t>
            </a:r>
            <a:r>
              <a:rPr lang="en-US" altLang="ko-KR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lvl="1"/>
            <a:r>
              <a:rPr lang="en-US" altLang="ko-KR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....</a:t>
            </a:r>
          </a:p>
          <a:p>
            <a:pPr lvl="1"/>
            <a:endParaRPr lang="en-US" altLang="ko-KR" sz="20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3"/>
            <a:endParaRPr lang="en-US" altLang="ko-KR" sz="20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ko-KR" alt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5" name="그림 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990213" y="718321"/>
            <a:ext cx="4363587" cy="2635607"/>
          </a:xfrm>
          <a:prstGeom prst="rect">
            <a:avLst/>
          </a:prstGeom>
        </p:spPr>
      </p:pic>
      <p:sp>
        <p:nvSpPr>
          <p:cNvPr id="6" name="직사각형 5"/>
          <p:cNvSpPr/>
          <p:nvPr/>
        </p:nvSpPr>
        <p:spPr>
          <a:xfrm>
            <a:off x="0" y="6189045"/>
            <a:ext cx="11328400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ko-KR" alt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https://pergolalights.net/what-are-lumens-lux-nits-and-candela/</a:t>
            </a:r>
          </a:p>
        </p:txBody>
      </p:sp>
    </p:spTree>
    <p:extLst>
      <p:ext uri="{BB962C8B-B14F-4D97-AF65-F5344CB8AC3E}">
        <p14:creationId xmlns:p14="http://schemas.microsoft.com/office/powerpoint/2010/main" val="13769213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>
                <a:latin typeface="Times New Roman" panose="02020603050405020304" pitchFamily="18" charset="0"/>
                <a:cs typeface="Times New Roman" panose="02020603050405020304" pitchFamily="18" charset="0"/>
              </a:rPr>
              <a:t>DR depends on “what system”</a:t>
            </a:r>
            <a:endParaRPr lang="ko-KR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altLang="ko-KR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Scene </a:t>
            </a:r>
            <a:r>
              <a:rPr lang="en-US" altLang="ko-KR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Dynamic Range</a:t>
            </a:r>
          </a:p>
          <a:p>
            <a:pPr lvl="1"/>
            <a:r>
              <a:rPr lang="en-US" altLang="ko-KR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brightest / darkest luminance in a </a:t>
            </a:r>
            <a:r>
              <a:rPr lang="en-US" altLang="ko-KR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scene</a:t>
            </a:r>
          </a:p>
          <a:p>
            <a:pPr lvl="1"/>
            <a:r>
              <a:rPr lang="ko-KR" altLang="en-US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장면 자체의 물리적 특성</a:t>
            </a:r>
            <a:endParaRPr lang="en-US" altLang="ko-KR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altLang="ko-KR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Camera </a:t>
            </a:r>
            <a:r>
              <a:rPr lang="en-US" altLang="ko-KR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Dynamic Range</a:t>
            </a:r>
          </a:p>
          <a:p>
            <a:pPr lvl="1"/>
            <a:r>
              <a:rPr lang="en-US" altLang="ko-KR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the </a:t>
            </a:r>
            <a:r>
              <a:rPr lang="en-US" altLang="ko-KR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ratio of saturation to noise</a:t>
            </a:r>
            <a:endParaRPr lang="en-US" altLang="ko-KR" sz="20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/>
            <a:r>
              <a:rPr lang="en-US" altLang="ko-KR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sensor </a:t>
            </a:r>
            <a:r>
              <a:rPr lang="en-US" altLang="ko-KR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saturation / noise </a:t>
            </a:r>
            <a:r>
              <a:rPr lang="en-US" altLang="ko-KR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floor</a:t>
            </a:r>
          </a:p>
          <a:p>
            <a:pPr lvl="1"/>
            <a:r>
              <a:rPr lang="ko-KR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최대값</a:t>
            </a:r>
            <a:r>
              <a:rPr lang="en-US" altLang="ko-KR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sensor saturation </a:t>
            </a:r>
            <a:r>
              <a:rPr lang="ko-KR" altLang="en-US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직전</a:t>
            </a:r>
            <a:endParaRPr lang="en-US" altLang="ko-KR" sz="20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/>
            <a:r>
              <a:rPr lang="ko-KR" altLang="en-US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최소값</a:t>
            </a:r>
            <a:r>
              <a:rPr lang="en-US" altLang="ko-KR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: noise</a:t>
            </a:r>
            <a:r>
              <a:rPr lang="ko-KR" altLang="en-US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보다 유의미하게 구분 가능한 최소 </a:t>
            </a:r>
            <a:r>
              <a:rPr lang="en-US" altLang="ko-KR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signal </a:t>
            </a:r>
          </a:p>
          <a:p>
            <a:pPr lvl="1"/>
            <a:r>
              <a:rPr lang="en-US" altLang="ko-KR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SNR </a:t>
            </a:r>
            <a:r>
              <a:rPr lang="ko-KR" altLang="en-US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기반 </a:t>
            </a:r>
            <a:r>
              <a:rPr lang="en-US" altLang="ko-KR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DR </a:t>
            </a:r>
            <a:r>
              <a:rPr lang="ko-KR" altLang="en-US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정의와 동일한 맥락</a:t>
            </a:r>
            <a:endParaRPr lang="en-US" altLang="ko-KR" sz="20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altLang="ko-KR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Display </a:t>
            </a:r>
            <a:r>
              <a:rPr lang="en-US" altLang="ko-KR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Dynamic Range</a:t>
            </a:r>
            <a:endParaRPr lang="en-US" altLang="ko-KR" sz="20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/>
            <a:r>
              <a:rPr lang="en-US" altLang="ko-KR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max brightness / min </a:t>
            </a:r>
            <a:r>
              <a:rPr lang="en-US" altLang="ko-KR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brightness</a:t>
            </a:r>
          </a:p>
          <a:p>
            <a:pPr lvl="1"/>
            <a:r>
              <a:rPr lang="en-US" altLang="ko-KR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= contrast </a:t>
            </a:r>
            <a:r>
              <a:rPr lang="en-US" altLang="ko-KR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ratio (</a:t>
            </a:r>
            <a:r>
              <a:rPr lang="ko-KR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예</a:t>
            </a:r>
            <a:r>
              <a:rPr lang="en-US" altLang="ko-KR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1000:1)</a:t>
            </a:r>
            <a:endParaRPr lang="ko-KR" alt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직사각형 5"/>
          <p:cNvSpPr/>
          <p:nvPr/>
        </p:nvSpPr>
        <p:spPr>
          <a:xfrm>
            <a:off x="0" y="6189045"/>
            <a:ext cx="11328400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ko-KR" alt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https://pergolalights.net/what-are-lumens-lux-nits-and-candela/</a:t>
            </a:r>
          </a:p>
        </p:txBody>
      </p:sp>
      <p:pic>
        <p:nvPicPr>
          <p:cNvPr id="4" name="그림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6000" y="1885674"/>
            <a:ext cx="5600827" cy="21156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8268908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Key mismatch</a:t>
            </a:r>
            <a:endParaRPr lang="ko-KR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altLang="ko-KR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Scene </a:t>
            </a:r>
            <a:r>
              <a:rPr lang="en-US" altLang="ko-KR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DR &gt; Camera DR &gt; Display </a:t>
            </a:r>
            <a:r>
              <a:rPr lang="en-US" altLang="ko-KR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DR</a:t>
            </a:r>
          </a:p>
          <a:p>
            <a:pPr lvl="1"/>
            <a:r>
              <a:rPr lang="ko-KR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밝은 영역 → </a:t>
            </a:r>
            <a:r>
              <a:rPr lang="en-US" altLang="ko-KR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saturation (clipping)</a:t>
            </a:r>
          </a:p>
          <a:p>
            <a:pPr lvl="1"/>
            <a:r>
              <a:rPr lang="ko-KR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어두운 영역 → </a:t>
            </a:r>
            <a:r>
              <a:rPr lang="en-US" altLang="ko-KR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noise</a:t>
            </a:r>
            <a:r>
              <a:rPr lang="ko-KR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에 묻힘</a:t>
            </a:r>
            <a:endParaRPr lang="en-US" altLang="ko-KR" sz="20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ko-KR" alt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직사각형 5"/>
          <p:cNvSpPr/>
          <p:nvPr/>
        </p:nvSpPr>
        <p:spPr>
          <a:xfrm>
            <a:off x="0" y="6189045"/>
            <a:ext cx="11328400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ko-KR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https://www.cgkorea.co.kr/global/library/The_Ins_and_Outs_of_HDR_What_is_HDR.html</a:t>
            </a:r>
            <a:endParaRPr lang="ko-KR" alt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8" name="그림 7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02681" y="2814740"/>
            <a:ext cx="7310637" cy="33622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0569444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LDR &amp; HDR</a:t>
            </a:r>
            <a:endParaRPr lang="ko-KR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0" y="1825625"/>
            <a:ext cx="6096000" cy="4351338"/>
          </a:xfrm>
        </p:spPr>
        <p:txBody>
          <a:bodyPr>
            <a:normAutofit/>
          </a:bodyPr>
          <a:lstStyle/>
          <a:p>
            <a:r>
              <a:rPr lang="en-US" altLang="ko-KR" sz="20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Low Dynamic Rage (LDR)</a:t>
            </a:r>
          </a:p>
          <a:p>
            <a:pPr lvl="1"/>
            <a:r>
              <a:rPr lang="ko-KR" altLang="en-US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정의</a:t>
            </a:r>
            <a:endParaRPr lang="en-US" altLang="ko-KR" sz="20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2"/>
            <a:r>
              <a:rPr lang="ko-KR" alt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제한된 </a:t>
            </a:r>
            <a:r>
              <a:rPr lang="en-US" altLang="ko-KR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dynamic range</a:t>
            </a:r>
            <a:r>
              <a:rPr lang="ko-KR" alt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를 가지는 이미지</a:t>
            </a:r>
            <a:endParaRPr lang="en-US" altLang="ko-KR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2"/>
            <a:r>
              <a:rPr lang="ko-KR" alt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픽셀 값이 </a:t>
            </a:r>
            <a:r>
              <a:rPr lang="en-US" altLang="ko-KR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luminance</a:t>
            </a:r>
            <a:r>
              <a:rPr lang="ko-KR" alt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와 비선형 관계</a:t>
            </a:r>
            <a:endParaRPr lang="en-US" altLang="ko-KR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/>
            <a:r>
              <a:rPr lang="ko-KR" altLang="en-US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핵심 특징</a:t>
            </a:r>
            <a:endParaRPr lang="en-US" altLang="ko-KR" sz="20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2"/>
            <a:r>
              <a:rPr lang="en-US" altLang="ko-KR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gamma correction</a:t>
            </a:r>
            <a:r>
              <a:rPr lang="ko-KR" alt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이 적용된 값</a:t>
            </a:r>
            <a:endParaRPr lang="en-US" altLang="ko-KR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2"/>
            <a:r>
              <a:rPr lang="en-US" altLang="ko-KR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pixel value ≠ </a:t>
            </a:r>
            <a:r>
              <a:rPr lang="ko-KR" alt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물리적 </a:t>
            </a:r>
            <a:r>
              <a:rPr lang="ko-KR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밝</a:t>
            </a:r>
            <a:r>
              <a:rPr lang="ko-KR" alt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기</a:t>
            </a:r>
            <a:endParaRPr lang="en-US" altLang="ko-KR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2"/>
            <a:r>
              <a:rPr lang="en-US" altLang="ko-KR" dirty="0">
                <a:latin typeface="Times New Roman" panose="02020603050405020304" pitchFamily="18" charset="0"/>
                <a:cs typeface="Times New Roman" panose="02020603050405020304" pitchFamily="18" charset="0"/>
              </a:rPr>
              <a:t>→</a:t>
            </a:r>
            <a:r>
              <a:rPr lang="en-US" altLang="ko-KR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ko-KR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luma</a:t>
            </a:r>
            <a:r>
              <a:rPr lang="en-US" altLang="ko-KR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ko-KR" alt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로 해석</a:t>
            </a:r>
            <a:endParaRPr lang="en-US" altLang="ko-KR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/>
            <a:r>
              <a:rPr lang="ko-KR" altLang="en-US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의미</a:t>
            </a:r>
            <a:endParaRPr lang="en-US" altLang="ko-KR" sz="20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2"/>
            <a:r>
              <a:rPr lang="ko-KR" alt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디스플레이 </a:t>
            </a:r>
            <a:r>
              <a:rPr lang="en-US" altLang="ko-KR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/ </a:t>
            </a:r>
            <a:r>
              <a:rPr lang="ko-KR" alt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저장에 적합한 형태</a:t>
            </a:r>
            <a:endParaRPr lang="en-US" altLang="ko-KR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2"/>
            <a:r>
              <a:rPr lang="ko-KR" alt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사람 눈에 보기 좋게 </a:t>
            </a:r>
            <a:r>
              <a:rPr lang="ko-KR" altLang="en-US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인코딩</a:t>
            </a:r>
            <a:r>
              <a:rPr lang="ko-KR" alt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된 값</a:t>
            </a:r>
            <a:endParaRPr lang="en-US" altLang="ko-KR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내용 개체 틀 2"/>
          <p:cNvSpPr txBox="1">
            <a:spLocks/>
          </p:cNvSpPr>
          <p:nvPr/>
        </p:nvSpPr>
        <p:spPr>
          <a:xfrm>
            <a:off x="6096000" y="1690688"/>
            <a:ext cx="60960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ko-KR" sz="20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High Dynamic Rage (HDR)</a:t>
            </a:r>
          </a:p>
          <a:p>
            <a:pPr lvl="1"/>
            <a:r>
              <a:rPr lang="ko-KR" altLang="en-US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정의</a:t>
            </a:r>
            <a:endParaRPr lang="en-US" altLang="ko-KR" sz="20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2"/>
            <a:r>
              <a:rPr lang="ko-KR" alt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넓은 </a:t>
            </a:r>
            <a:r>
              <a:rPr lang="en-US" altLang="ko-KR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dynamic range</a:t>
            </a:r>
            <a:r>
              <a:rPr lang="ko-KR" alt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를 가지는 이미지</a:t>
            </a:r>
            <a:endParaRPr lang="en-US" altLang="ko-KR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2"/>
            <a:r>
              <a:rPr lang="ko-KR" alt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픽셀 값이 </a:t>
            </a:r>
            <a:r>
              <a:rPr lang="en-US" altLang="ko-KR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luminance</a:t>
            </a:r>
            <a:r>
              <a:rPr lang="ko-KR" alt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와 선형 관계 </a:t>
            </a:r>
            <a:r>
              <a:rPr lang="en-US" altLang="ko-KR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ko-KR" alt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근사</a:t>
            </a:r>
            <a:r>
              <a:rPr lang="en-US" altLang="ko-KR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</a:p>
          <a:p>
            <a:pPr lvl="1"/>
            <a:r>
              <a:rPr lang="ko-KR" altLang="en-US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핵심 특징</a:t>
            </a:r>
            <a:endParaRPr lang="en-US" altLang="ko-KR" sz="20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2"/>
            <a:r>
              <a:rPr lang="en-US" altLang="ko-KR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pixel value </a:t>
            </a:r>
            <a:r>
              <a:rPr lang="ko-KR" altLang="en-US" dirty="0"/>
              <a:t>∝ </a:t>
            </a:r>
            <a:r>
              <a:rPr lang="ko-KR" alt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물리적 </a:t>
            </a:r>
            <a:r>
              <a:rPr lang="ko-KR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밝</a:t>
            </a:r>
            <a:r>
              <a:rPr lang="ko-KR" alt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기</a:t>
            </a:r>
            <a:endParaRPr lang="en-US" altLang="ko-KR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2"/>
            <a:r>
              <a:rPr lang="en-US" altLang="ko-KR" dirty="0">
                <a:latin typeface="Times New Roman" panose="02020603050405020304" pitchFamily="18" charset="0"/>
                <a:cs typeface="Times New Roman" panose="02020603050405020304" pitchFamily="18" charset="0"/>
              </a:rPr>
              <a:t>→</a:t>
            </a:r>
            <a:r>
              <a:rPr lang="en-US" altLang="ko-KR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photometric quantity </a:t>
            </a:r>
            <a:r>
              <a:rPr lang="ko-KR" alt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로 근사</a:t>
            </a:r>
            <a:endParaRPr lang="en-US" altLang="ko-KR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92065537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LDR &amp; HDR </a:t>
            </a:r>
            <a:br>
              <a:rPr lang="en-US" altLang="ko-KR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altLang="ko-KR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Pixel Representation &amp; Bit Depth</a:t>
            </a:r>
            <a:endParaRPr lang="ko-KR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0" y="1825625"/>
            <a:ext cx="6096000" cy="4351338"/>
          </a:xfrm>
        </p:spPr>
        <p:txBody>
          <a:bodyPr>
            <a:normAutofit/>
          </a:bodyPr>
          <a:lstStyle/>
          <a:p>
            <a:r>
              <a:rPr lang="en-US" altLang="ko-KR" sz="20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Low Dynamic Rage (LDR) Image</a:t>
            </a:r>
          </a:p>
          <a:p>
            <a:pPr lvl="1"/>
            <a:r>
              <a:rPr lang="ko-KR" altLang="en-US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저장 방식</a:t>
            </a:r>
            <a:endParaRPr lang="en-US" altLang="ko-KR" sz="20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2"/>
            <a:r>
              <a:rPr lang="ko-KR" alt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보통 정수 </a:t>
            </a:r>
            <a:r>
              <a:rPr lang="en-US" altLang="ko-KR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(integer) </a:t>
            </a:r>
            <a:r>
              <a:rPr lang="ko-KR" alt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기반</a:t>
            </a:r>
            <a:endParaRPr lang="en-US" altLang="ko-KR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2"/>
            <a:r>
              <a:rPr lang="ko-KR" alt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예</a:t>
            </a:r>
            <a:r>
              <a:rPr lang="en-US" altLang="ko-KR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: 8-bit / channel</a:t>
            </a:r>
          </a:p>
          <a:p>
            <a:pPr lvl="2"/>
            <a:r>
              <a:rPr lang="en-US" altLang="ko-KR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0~255 (</a:t>
            </a:r>
            <a:r>
              <a:rPr lang="ko-KR" alt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총 </a:t>
            </a:r>
            <a:r>
              <a:rPr lang="en-US" altLang="ko-KR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256 </a:t>
            </a:r>
            <a:r>
              <a:rPr lang="ko-KR" alt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단계</a:t>
            </a:r>
            <a:r>
              <a:rPr lang="en-US" altLang="ko-KR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</a:p>
          <a:p>
            <a:pPr lvl="1"/>
            <a:r>
              <a:rPr lang="ko-KR" altLang="en-US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특징</a:t>
            </a:r>
            <a:endParaRPr lang="en-US" altLang="ko-KR" sz="20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2"/>
            <a:r>
              <a:rPr lang="ko-KR" alt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표현 가능한 값이 제한적</a:t>
            </a:r>
            <a:endParaRPr lang="en-US" altLang="ko-KR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2"/>
            <a:r>
              <a:rPr lang="ko-KR" alt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밝기 범위가 좁음</a:t>
            </a:r>
            <a:endParaRPr lang="en-US" altLang="ko-KR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2"/>
            <a:r>
              <a:rPr lang="ko-KR" alt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대부분 </a:t>
            </a:r>
            <a:r>
              <a:rPr lang="en-US" altLang="ko-KR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PNG, JPEG </a:t>
            </a:r>
            <a:r>
              <a:rPr lang="ko-KR" alt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등으로 저장</a:t>
            </a:r>
            <a:endParaRPr lang="en-US" altLang="ko-KR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/>
            <a:r>
              <a:rPr lang="ko-KR" altLang="en-US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결과</a:t>
            </a:r>
            <a:endParaRPr lang="en-US" altLang="ko-KR" sz="20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2"/>
            <a:r>
              <a:rPr lang="ko-KR" alt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밝은 영역</a:t>
            </a:r>
            <a:r>
              <a:rPr lang="en-US" altLang="ko-KR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ko-KR" alt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어두운 영역 </a:t>
            </a:r>
            <a:r>
              <a:rPr lang="en-US" altLang="ko-KR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→ clipping</a:t>
            </a:r>
          </a:p>
          <a:p>
            <a:pPr lvl="2"/>
            <a:r>
              <a:rPr lang="en-US" altLang="ko-KR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→ detail </a:t>
            </a:r>
            <a:r>
              <a:rPr lang="ko-KR" alt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손실</a:t>
            </a:r>
            <a:endParaRPr lang="en-US" altLang="ko-KR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lvl="1" indent="0">
              <a:buNone/>
            </a:pPr>
            <a:endParaRPr lang="en-US" altLang="ko-KR" sz="1600" b="1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내용 개체 틀 2"/>
          <p:cNvSpPr txBox="1">
            <a:spLocks/>
          </p:cNvSpPr>
          <p:nvPr/>
        </p:nvSpPr>
        <p:spPr>
          <a:xfrm>
            <a:off x="6096000" y="1690688"/>
            <a:ext cx="60960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ko-KR" sz="20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High Dynamic Rage (HDR)</a:t>
            </a:r>
          </a:p>
          <a:p>
            <a:pPr lvl="1"/>
            <a:r>
              <a:rPr lang="ko-KR" altLang="en-US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저장 방식</a:t>
            </a:r>
            <a:endParaRPr lang="en-US" altLang="ko-KR" sz="20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2"/>
            <a:r>
              <a:rPr lang="ko-KR" altLang="en-US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고비트</a:t>
            </a:r>
            <a:r>
              <a:rPr lang="ko-KR" alt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정밀도</a:t>
            </a:r>
            <a:r>
              <a:rPr lang="en-US" altLang="ko-KR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ko-KR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ko-KR" alt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다양한 정의</a:t>
            </a:r>
            <a:r>
              <a:rPr lang="en-US" altLang="ko-KR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</a:p>
          <a:p>
            <a:pPr lvl="2"/>
            <a:r>
              <a:rPr lang="en-US" altLang="ko-KR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10, 12, 16 bit integer</a:t>
            </a:r>
          </a:p>
          <a:p>
            <a:pPr lvl="2"/>
            <a:r>
              <a:rPr lang="en-US" altLang="ko-KR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32 bit floating point</a:t>
            </a:r>
          </a:p>
          <a:p>
            <a:pPr lvl="1"/>
            <a:r>
              <a:rPr lang="ko-KR" altLang="en-US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특징</a:t>
            </a:r>
            <a:endParaRPr lang="en-US" altLang="ko-KR" sz="20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2"/>
            <a:r>
              <a:rPr lang="ko-KR" alt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훨씬 넓은 값의 범위 표현 가능</a:t>
            </a:r>
            <a:endParaRPr lang="en-US" altLang="ko-KR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2"/>
            <a:r>
              <a:rPr lang="ko-KR" alt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매우 밝은 값 </a:t>
            </a:r>
            <a:r>
              <a:rPr lang="en-US" altLang="ko-KR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/ </a:t>
            </a:r>
            <a:r>
              <a:rPr lang="ko-KR" alt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어두운 값 모두 표현 가능</a:t>
            </a:r>
            <a:endParaRPr lang="en-US" altLang="ko-KR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/>
            <a:r>
              <a:rPr lang="ko-KR" altLang="en-US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결과</a:t>
            </a:r>
            <a:endParaRPr lang="en-US" altLang="ko-KR" sz="20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2"/>
            <a:r>
              <a:rPr lang="ko-KR" alt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장면의 실제 밝기 분포를 더 잘 보존</a:t>
            </a:r>
            <a:endParaRPr lang="en-US" altLang="ko-KR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22454825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>
                <a:latin typeface="Times New Roman" panose="02020603050405020304" pitchFamily="18" charset="0"/>
                <a:cs typeface="Times New Roman" panose="02020603050405020304" pitchFamily="18" charset="0"/>
              </a:rPr>
              <a:t>LDR &amp; HDR </a:t>
            </a:r>
            <a:br>
              <a:rPr lang="en-US" altLang="ko-KR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altLang="ko-KR" dirty="0">
                <a:latin typeface="Times New Roman" panose="02020603050405020304" pitchFamily="18" charset="0"/>
                <a:cs typeface="Times New Roman" panose="02020603050405020304" pitchFamily="18" charset="0"/>
              </a:rPr>
              <a:t>Pixel Representation &amp; Bit Depth</a:t>
            </a:r>
            <a:endParaRPr lang="ko-KR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026" name="Picture 2" descr="What is Bit Depth? - Bit Depth explained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47215" y="1690688"/>
            <a:ext cx="8292250" cy="466439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직사각형 4"/>
          <p:cNvSpPr/>
          <p:nvPr/>
        </p:nvSpPr>
        <p:spPr>
          <a:xfrm>
            <a:off x="175852" y="6414254"/>
            <a:ext cx="4185313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ko-KR" alt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https://www.youtube.com/watch?v=6yXYxp0UiVg</a:t>
            </a:r>
          </a:p>
        </p:txBody>
      </p:sp>
    </p:spTree>
    <p:extLst>
      <p:ext uri="{BB962C8B-B14F-4D97-AF65-F5344CB8AC3E}">
        <p14:creationId xmlns:p14="http://schemas.microsoft.com/office/powerpoint/2010/main" val="136590633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그림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57534" y="1927755"/>
            <a:ext cx="4661286" cy="3981170"/>
          </a:xfrm>
          <a:prstGeom prst="rect">
            <a:avLst/>
          </a:prstGeom>
        </p:spPr>
      </p:pic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HDR</a:t>
            </a:r>
            <a:r>
              <a:rPr lang="en-US" altLang="ko-KR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ko-KR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Imaging (HDRI, HDR Reconstruction)</a:t>
            </a:r>
            <a:endParaRPr lang="ko-KR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838200" y="1825625"/>
            <a:ext cx="7023100" cy="4351338"/>
          </a:xfrm>
        </p:spPr>
        <p:txBody>
          <a:bodyPr>
            <a:normAutofit/>
          </a:bodyPr>
          <a:lstStyle/>
          <a:p>
            <a:r>
              <a:rPr lang="en-US" altLang="ko-KR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Multi / Single</a:t>
            </a:r>
            <a:r>
              <a:rPr lang="ko-KR" altLang="en-US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ko-KR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LDR </a:t>
            </a:r>
            <a:r>
              <a:rPr lang="ko-KR" altLang="en-US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이미지로부터 </a:t>
            </a:r>
            <a:r>
              <a:rPr lang="en-US" altLang="ko-KR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High Dynamic Range</a:t>
            </a:r>
            <a:r>
              <a:rPr lang="ko-KR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ko-KR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Image</a:t>
            </a:r>
            <a:r>
              <a:rPr lang="ko-KR" altLang="en-US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를 얻는 기법</a:t>
            </a:r>
            <a:endParaRPr lang="en-US" altLang="ko-KR" sz="20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/>
            <a:r>
              <a:rPr lang="ko-KR" altLang="en-US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역광일 때</a:t>
            </a:r>
            <a:r>
              <a:rPr lang="en-US" altLang="ko-KR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ko-KR" altLang="en-US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배경은 밝고 사물이 어둡게 나오는 이미지</a:t>
            </a:r>
            <a:endParaRPr lang="en-US" altLang="ko-KR" sz="20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/>
            <a:r>
              <a:rPr lang="ko-KR" altLang="en-US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밤에는 어두워서 밝기 노출 시간 </a:t>
            </a:r>
            <a:r>
              <a:rPr lang="en-US" altLang="ko-KR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(exposure time)</a:t>
            </a:r>
            <a:r>
              <a:rPr lang="ko-KR" altLang="en-US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을 길게 찍으면 </a:t>
            </a:r>
            <a:r>
              <a:rPr lang="ko-KR" altLang="en-US" sz="20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블러가</a:t>
            </a:r>
            <a:r>
              <a:rPr lang="ko-KR" altLang="en-US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생기고</a:t>
            </a:r>
            <a:endParaRPr lang="en-US" altLang="ko-KR" sz="20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/>
            <a:r>
              <a:rPr lang="ko-KR" altLang="en-US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노출 시간을 짧게 하면 어두워서 원하는 이미지를 얻지 못하기 때문에</a:t>
            </a:r>
            <a:endParaRPr lang="en-US" altLang="ko-KR" sz="20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/>
            <a:r>
              <a:rPr lang="ko-KR" altLang="en-US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일반 카메라</a:t>
            </a:r>
            <a:r>
              <a:rPr lang="en-US" altLang="ko-KR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ko-KR" altLang="en-US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블랙박스</a:t>
            </a:r>
            <a:r>
              <a:rPr lang="en-US" altLang="ko-KR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altLang="ko-KR" sz="20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cctv</a:t>
            </a:r>
            <a:r>
              <a:rPr lang="en-US" altLang="ko-KR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ko-KR" altLang="en-US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등에서 많이 사용되고 있음</a:t>
            </a:r>
            <a:endParaRPr lang="en-US" altLang="ko-KR" sz="20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직사각형 6"/>
          <p:cNvSpPr/>
          <p:nvPr/>
        </p:nvSpPr>
        <p:spPr>
          <a:xfrm>
            <a:off x="63500" y="6414030"/>
            <a:ext cx="11802533" cy="3385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ko-KR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https://www.nikon.com.cy/en_CY/learn-and-explore/magazine/tips-and-tricks/understanding-the-exposure-triangle</a:t>
            </a:r>
            <a:endParaRPr lang="ko-KR" alt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70543625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그림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57534" y="1927755"/>
            <a:ext cx="4661286" cy="3981170"/>
          </a:xfrm>
          <a:prstGeom prst="rect">
            <a:avLst/>
          </a:prstGeom>
        </p:spPr>
      </p:pic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HDR</a:t>
            </a:r>
            <a:r>
              <a:rPr lang="en-US" altLang="ko-KR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ko-KR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Imaging (HDRI, HDR Reconstruction)</a:t>
            </a:r>
            <a:endParaRPr lang="ko-KR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838200" y="1825625"/>
            <a:ext cx="7023100" cy="4351338"/>
          </a:xfrm>
        </p:spPr>
        <p:txBody>
          <a:bodyPr>
            <a:normAutofit/>
          </a:bodyPr>
          <a:lstStyle/>
          <a:p>
            <a:r>
              <a:rPr lang="en-US" altLang="ko-KR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Multi / Single</a:t>
            </a:r>
            <a:r>
              <a:rPr lang="ko-KR" altLang="en-US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ko-KR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LDR </a:t>
            </a:r>
            <a:r>
              <a:rPr lang="ko-KR" altLang="en-US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이미지로부터 </a:t>
            </a:r>
            <a:r>
              <a:rPr lang="en-US" altLang="ko-KR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High Dynamic Range</a:t>
            </a:r>
            <a:r>
              <a:rPr lang="ko-KR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ko-KR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Image</a:t>
            </a:r>
            <a:r>
              <a:rPr lang="ko-KR" altLang="en-US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를 얻는 기법</a:t>
            </a:r>
            <a:endParaRPr lang="en-US" altLang="ko-KR" sz="20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/>
            <a:r>
              <a:rPr lang="ko-KR" altLang="en-US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역광일 때</a:t>
            </a:r>
            <a:r>
              <a:rPr lang="en-US" altLang="ko-KR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ko-KR" altLang="en-US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배경은 밝고 사물이 어둡게 나오는 이미지</a:t>
            </a:r>
            <a:endParaRPr lang="en-US" altLang="ko-KR" sz="20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/>
            <a:r>
              <a:rPr lang="ko-KR" altLang="en-US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밤에는 어두워서 밝기 노출 시간 </a:t>
            </a:r>
            <a:r>
              <a:rPr lang="en-US" altLang="ko-KR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(exposure time)</a:t>
            </a:r>
            <a:r>
              <a:rPr lang="ko-KR" altLang="en-US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을 길게 찍으면 </a:t>
            </a:r>
            <a:r>
              <a:rPr lang="ko-KR" altLang="en-US" sz="20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블러가</a:t>
            </a:r>
            <a:r>
              <a:rPr lang="ko-KR" altLang="en-US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생기고</a:t>
            </a:r>
            <a:endParaRPr lang="en-US" altLang="ko-KR" sz="20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/>
            <a:r>
              <a:rPr lang="ko-KR" altLang="en-US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노출 시간을 짧게 하면 어두워서 원하는 이미지를 얻지 못하기 때문에</a:t>
            </a:r>
            <a:endParaRPr lang="en-US" altLang="ko-KR" sz="20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/>
            <a:r>
              <a:rPr lang="ko-KR" altLang="en-US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일반 카메라</a:t>
            </a:r>
            <a:r>
              <a:rPr lang="en-US" altLang="ko-KR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ko-KR" altLang="en-US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블랙박스</a:t>
            </a:r>
            <a:r>
              <a:rPr lang="en-US" altLang="ko-KR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altLang="ko-KR" sz="20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cctv</a:t>
            </a:r>
            <a:r>
              <a:rPr lang="en-US" altLang="ko-KR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ko-KR" altLang="en-US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등에서 많이 사용되고 있음</a:t>
            </a:r>
            <a:endParaRPr lang="en-US" altLang="ko-KR" sz="20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직사각형 6"/>
          <p:cNvSpPr/>
          <p:nvPr/>
        </p:nvSpPr>
        <p:spPr>
          <a:xfrm>
            <a:off x="63500" y="6414030"/>
            <a:ext cx="11802533" cy="3385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ko-KR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https://www.nikon.com.cy/en_CY/learn-and-explore/magazine/tips-and-tricks/understanding-the-exposure-triangle</a:t>
            </a:r>
            <a:endParaRPr lang="ko-KR" alt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37811294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직사각형 4"/>
          <p:cNvSpPr/>
          <p:nvPr/>
        </p:nvSpPr>
        <p:spPr>
          <a:xfrm>
            <a:off x="495300" y="6311900"/>
            <a:ext cx="10502900" cy="3385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ko-KR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https://github.com/rebeccaeexu/Awesome-High-Dynamic-Range-Imaging</a:t>
            </a:r>
            <a:endParaRPr lang="ko-KR" alt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8" name="그림 7"/>
          <p:cNvPicPr>
            <a:picLocks noChangeAspect="1"/>
          </p:cNvPicPr>
          <p:nvPr/>
        </p:nvPicPr>
        <p:blipFill rotWithShape="1">
          <a:blip r:embed="rId2"/>
          <a:srcRect r="3324"/>
          <a:stretch/>
        </p:blipFill>
        <p:spPr>
          <a:xfrm>
            <a:off x="0" y="1238250"/>
            <a:ext cx="6032500" cy="4186237"/>
          </a:xfrm>
          <a:prstGeom prst="rect">
            <a:avLst/>
          </a:prstGeom>
        </p:spPr>
      </p:pic>
      <p:pic>
        <p:nvPicPr>
          <p:cNvPr id="9" name="그림 8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72855" y="132556"/>
            <a:ext cx="3952345" cy="3211158"/>
          </a:xfrm>
          <a:prstGeom prst="rect">
            <a:avLst/>
          </a:prstGeom>
        </p:spPr>
      </p:pic>
      <p:pic>
        <p:nvPicPr>
          <p:cNvPr id="10" name="그림 9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172855" y="3429001"/>
            <a:ext cx="4496896" cy="28829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1963334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Multi-Exposure Techniques</a:t>
            </a:r>
            <a:endParaRPr lang="ko-KR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직사각형 4"/>
          <p:cNvSpPr/>
          <p:nvPr/>
        </p:nvSpPr>
        <p:spPr>
          <a:xfrm>
            <a:off x="311150" y="4987802"/>
            <a:ext cx="7683500" cy="181588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ko-KR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Paul E </a:t>
            </a:r>
            <a:r>
              <a:rPr lang="en-US" altLang="ko-KR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Debevec</a:t>
            </a:r>
            <a:r>
              <a:rPr lang="en-US" altLang="ko-KR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and </a:t>
            </a:r>
            <a:r>
              <a:rPr lang="en-US" altLang="ko-KR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Jitendra</a:t>
            </a:r>
            <a:r>
              <a:rPr lang="en-US" altLang="ko-KR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Malik. Recovering high dynamic range radiance maps from photographs. In ACM SIGGRAPH 2008 classes, page 31. ACM, 2008.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ko-KR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Mark A Robertson, Sean </a:t>
            </a:r>
            <a:r>
              <a:rPr lang="en-US" altLang="ko-KR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Borman</a:t>
            </a:r>
            <a:r>
              <a:rPr lang="en-US" altLang="ko-KR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and Robert L Stevenson. Dynamic range improvement through multiple exposures. In Image Processing, 1999. ICIP 99. Proceedings. 1999 International Conference on, volume 3, pages 159–163. IEEE, 1999.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ko-KR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Tom </a:t>
            </a:r>
            <a:r>
              <a:rPr lang="en-US" altLang="ko-KR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Mertens</a:t>
            </a:r>
            <a:r>
              <a:rPr lang="en-US" altLang="ko-KR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Jan </a:t>
            </a:r>
            <a:r>
              <a:rPr lang="en-US" altLang="ko-KR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Kautz</a:t>
            </a:r>
            <a:r>
              <a:rPr lang="en-US" altLang="ko-KR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and Frank Van Reeth. Exposure fusion. In Computer Graphics and Applications, 2007. PG'07. 15th Pacific Conference on, pages 382–390. IEEE, 2007</a:t>
            </a:r>
            <a:r>
              <a:rPr lang="en-US" altLang="ko-KR" sz="16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ko-KR" alt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7" name="Picture 2" descr="exposures.jp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87425" y="1531385"/>
            <a:ext cx="4524375" cy="339328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098" name="Picture 2" descr="ldr_debevec.jpg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256056" y="0"/>
            <a:ext cx="3007360" cy="225552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100" name="Picture 4" descr="ldr_robertson.jpg"/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256055" y="2303945"/>
            <a:ext cx="3003753" cy="225281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102" name="Picture 6" descr="fusion_mertens.jpg"/>
          <p:cNvPicPr>
            <a:picLocks noChangeAspect="1" noChangeArrowheads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256055" y="4605185"/>
            <a:ext cx="3003754" cy="225281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3" name="오른쪽 화살표 12"/>
          <p:cNvSpPr/>
          <p:nvPr/>
        </p:nvSpPr>
        <p:spPr>
          <a:xfrm>
            <a:off x="6182360" y="3038653"/>
            <a:ext cx="1021080" cy="320040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9" name="직사각형 8"/>
          <p:cNvSpPr/>
          <p:nvPr/>
        </p:nvSpPr>
        <p:spPr>
          <a:xfrm>
            <a:off x="8230406" y="32880"/>
            <a:ext cx="992579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ko-KR" dirty="0" err="1">
                <a:solidFill>
                  <a:srgbClr val="FFFF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Debevec</a:t>
            </a:r>
            <a:endParaRPr lang="ko-KR" altLang="en-US" dirty="0">
              <a:solidFill>
                <a:srgbClr val="FFFF00"/>
              </a:solidFill>
            </a:endParaRPr>
          </a:p>
        </p:txBody>
      </p:sp>
      <p:sp>
        <p:nvSpPr>
          <p:cNvPr id="15" name="직사각형 14"/>
          <p:cNvSpPr/>
          <p:nvPr/>
        </p:nvSpPr>
        <p:spPr>
          <a:xfrm>
            <a:off x="8256055" y="2316810"/>
            <a:ext cx="1133644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ko-KR" dirty="0" smtClean="0">
                <a:solidFill>
                  <a:srgbClr val="FFFF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Robertson</a:t>
            </a:r>
            <a:endParaRPr lang="ko-KR" altLang="en-US" dirty="0">
              <a:solidFill>
                <a:srgbClr val="FFFF00"/>
              </a:solidFill>
            </a:endParaRPr>
          </a:p>
        </p:txBody>
      </p:sp>
      <p:sp>
        <p:nvSpPr>
          <p:cNvPr id="16" name="직사각형 15"/>
          <p:cNvSpPr/>
          <p:nvPr/>
        </p:nvSpPr>
        <p:spPr>
          <a:xfrm>
            <a:off x="8256055" y="4655786"/>
            <a:ext cx="941283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ko-KR" dirty="0" err="1" smtClean="0">
                <a:solidFill>
                  <a:srgbClr val="FFFF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Mertens</a:t>
            </a:r>
            <a:endParaRPr lang="ko-KR" altLang="en-US" dirty="0">
              <a:solidFill>
                <a:srgbClr val="FFFF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99563165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직사각형 4"/>
          <p:cNvSpPr/>
          <p:nvPr/>
        </p:nvSpPr>
        <p:spPr>
          <a:xfrm>
            <a:off x="275590" y="6394962"/>
            <a:ext cx="7683500" cy="3385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ko-KR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https://docs.opencv.org/4.x/d3/db7/tutorial_hdr_imaging.html.</a:t>
            </a:r>
            <a:endParaRPr lang="ko-KR" alt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3" name="오른쪽 화살표 12"/>
          <p:cNvSpPr/>
          <p:nvPr/>
        </p:nvSpPr>
        <p:spPr>
          <a:xfrm>
            <a:off x="5755640" y="3159777"/>
            <a:ext cx="1021080" cy="320040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5122" name="Picture 2" descr="https://docs.opencv.org/4.x/memorial.pn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29055" y="496882"/>
            <a:ext cx="3827145" cy="564583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" name="그림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22185" y="27916"/>
            <a:ext cx="3724373" cy="6705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0869061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Multi-Exposure Techniques</a:t>
            </a:r>
            <a:endParaRPr lang="ko-KR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직사각형 4"/>
          <p:cNvSpPr/>
          <p:nvPr/>
        </p:nvSpPr>
        <p:spPr>
          <a:xfrm>
            <a:off x="1" y="5288340"/>
            <a:ext cx="12192000" cy="5847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ko-KR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AFUNet</a:t>
            </a:r>
            <a:r>
              <a:rPr lang="en-US" altLang="ko-KR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Cross-Iterative Alignment-Fusion Synergy for HDR Reconstruction </a:t>
            </a:r>
            <a:r>
              <a:rPr lang="en-US" altLang="ko-KR" sz="16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via Deep </a:t>
            </a:r>
            <a:r>
              <a:rPr lang="en-US" altLang="ko-KR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Unfolding </a:t>
            </a:r>
            <a:r>
              <a:rPr lang="en-US" altLang="ko-KR" sz="16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Paradigm, ICCV 2025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ko-KR" sz="16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UltraFusion</a:t>
            </a:r>
            <a:r>
              <a:rPr lang="en-US" altLang="ko-KR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Ultra High Dynamic Imaging using Exposure Fusion, CVPR 2025</a:t>
            </a:r>
          </a:p>
        </p:txBody>
      </p:sp>
      <p:pic>
        <p:nvPicPr>
          <p:cNvPr id="4" name="그림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9392" y="1814466"/>
            <a:ext cx="5821574" cy="3229068"/>
          </a:xfrm>
          <a:prstGeom prst="rect">
            <a:avLst/>
          </a:prstGeom>
        </p:spPr>
      </p:pic>
      <p:pic>
        <p:nvPicPr>
          <p:cNvPr id="6" name="그림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28134" y="1907129"/>
            <a:ext cx="5348434" cy="217253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57149362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LEDiff</a:t>
            </a:r>
            <a:r>
              <a:rPr lang="en-US" altLang="ko-KR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: Latent Exposure Diffusion for HDR Generation</a:t>
            </a:r>
            <a:endParaRPr lang="ko-KR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42706661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Introduction</a:t>
            </a:r>
            <a:endParaRPr lang="ko-KR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altLang="ko-KR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Problem Statement</a:t>
            </a:r>
          </a:p>
          <a:p>
            <a:pPr lvl="1"/>
            <a:r>
              <a:rPr lang="ko-KR" altLang="en-US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현재 생성 모델들은 대부분 </a:t>
            </a:r>
            <a:r>
              <a:rPr lang="en-US" altLang="ko-KR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8-bit LDR image </a:t>
            </a:r>
            <a:r>
              <a:rPr lang="ko-KR" altLang="en-US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생성</a:t>
            </a:r>
            <a:endParaRPr lang="en-US" altLang="ko-KR" sz="20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/>
            <a:r>
              <a:rPr lang="ko-KR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문제</a:t>
            </a:r>
            <a:r>
              <a:rPr lang="en-US" altLang="ko-KR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</a:p>
          <a:p>
            <a:pPr lvl="2"/>
            <a:r>
              <a:rPr lang="en-US" altLang="ko-KR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highlight </a:t>
            </a:r>
            <a:r>
              <a:rPr lang="en-US" altLang="ko-KR" dirty="0">
                <a:latin typeface="Times New Roman" panose="02020603050405020304" pitchFamily="18" charset="0"/>
                <a:cs typeface="Times New Roman" panose="02020603050405020304" pitchFamily="18" charset="0"/>
              </a:rPr>
              <a:t>/ shadow </a:t>
            </a:r>
            <a:r>
              <a:rPr lang="en-US" altLang="ko-KR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clipping</a:t>
            </a:r>
          </a:p>
          <a:p>
            <a:pPr lvl="2"/>
            <a:r>
              <a:rPr lang="ko-KR" alt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실제 </a:t>
            </a:r>
            <a:r>
              <a:rPr lang="ko-KR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장면의 빛과 색 변화 표현 </a:t>
            </a:r>
            <a:r>
              <a:rPr lang="ko-KR" alt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불가</a:t>
            </a:r>
            <a:endParaRPr lang="en-US" altLang="ko-KR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2"/>
            <a:r>
              <a:rPr lang="en-US" altLang="ko-KR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tone </a:t>
            </a:r>
            <a:r>
              <a:rPr lang="en-US" altLang="ko-KR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mapping</a:t>
            </a:r>
            <a:r>
              <a:rPr lang="ko-KR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으로도 디테일 복원 </a:t>
            </a:r>
            <a:r>
              <a:rPr lang="ko-KR" alt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불가능</a:t>
            </a:r>
            <a:endParaRPr lang="en-US" altLang="ko-KR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/>
            <a:r>
              <a:rPr lang="en-US" altLang="ko-KR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Why this matters</a:t>
            </a:r>
          </a:p>
          <a:p>
            <a:pPr lvl="2"/>
            <a:r>
              <a:rPr lang="en-US" altLang="ko-KR" dirty="0">
                <a:latin typeface="Times New Roman" panose="02020603050405020304" pitchFamily="18" charset="0"/>
                <a:cs typeface="Times New Roman" panose="02020603050405020304" pitchFamily="18" charset="0"/>
              </a:rPr>
              <a:t>LDR</a:t>
            </a:r>
            <a:r>
              <a:rPr lang="ko-KR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은 다음 작업에서 한계 발생</a:t>
            </a:r>
            <a:r>
              <a:rPr lang="en-US" altLang="ko-KR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</a:p>
          <a:p>
            <a:pPr lvl="3"/>
            <a:r>
              <a:rPr lang="en-US" altLang="ko-KR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image-based lighting, depth </a:t>
            </a:r>
            <a:r>
              <a:rPr lang="en-US" altLang="ko-KR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of field </a:t>
            </a:r>
            <a:r>
              <a:rPr lang="en-US" altLang="ko-KR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rendering</a:t>
            </a:r>
          </a:p>
          <a:p>
            <a:pPr lvl="2"/>
            <a:r>
              <a:rPr lang="ko-KR" alt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기술 발전으로 </a:t>
            </a:r>
            <a:r>
              <a:rPr lang="en-US" altLang="ko-KR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HDR </a:t>
            </a:r>
            <a:r>
              <a:rPr lang="ko-KR" alt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지원하는 디스플레이 장치들 증가</a:t>
            </a:r>
            <a:endParaRPr lang="en-US" altLang="ko-KR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3"/>
            <a:r>
              <a:rPr lang="ko-KR" altLang="en-US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하지만 </a:t>
            </a:r>
            <a:r>
              <a:rPr lang="ko-KR" altLang="en-US" sz="20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생성형</a:t>
            </a:r>
            <a:r>
              <a:rPr lang="ko-KR" altLang="en-US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모델의 결과물</a:t>
            </a:r>
            <a:r>
              <a:rPr lang="en-US" altLang="ko-KR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ko-KR" altLang="en-US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컨텐츠</a:t>
            </a:r>
            <a:r>
              <a:rPr lang="en-US" altLang="ko-KR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r>
              <a:rPr lang="ko-KR" altLang="en-US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들은 여전히 </a:t>
            </a:r>
            <a:r>
              <a:rPr lang="en-US" altLang="ko-KR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LDR</a:t>
            </a:r>
          </a:p>
          <a:p>
            <a:pPr lvl="3"/>
            <a:endParaRPr lang="ko-KR" alt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370280908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Introduction</a:t>
            </a:r>
            <a:endParaRPr lang="ko-KR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838200" y="1825625"/>
            <a:ext cx="5257800" cy="4351338"/>
          </a:xfrm>
        </p:spPr>
        <p:txBody>
          <a:bodyPr>
            <a:noAutofit/>
          </a:bodyPr>
          <a:lstStyle/>
          <a:p>
            <a:r>
              <a:rPr lang="en-US" altLang="ko-KR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Goal</a:t>
            </a:r>
          </a:p>
          <a:p>
            <a:pPr lvl="1"/>
            <a:r>
              <a:rPr lang="en-US" altLang="ko-KR" sz="20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Pretrained</a:t>
            </a:r>
            <a:r>
              <a:rPr lang="en-US" altLang="ko-KR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ko-KR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diffusion model</a:t>
            </a:r>
            <a:r>
              <a:rPr lang="ko-KR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을 </a:t>
            </a:r>
            <a:r>
              <a:rPr lang="en-US" altLang="ko-KR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HDR </a:t>
            </a:r>
            <a:r>
              <a:rPr lang="ko-KR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생성 가능하게 </a:t>
            </a:r>
            <a:r>
              <a:rPr lang="ko-KR" altLang="en-US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확장</a:t>
            </a:r>
            <a:endParaRPr lang="en-US" altLang="ko-KR" sz="20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/>
            <a:r>
              <a:rPr lang="ko-KR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조건</a:t>
            </a:r>
            <a:r>
              <a:rPr lang="en-US" altLang="ko-KR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</a:p>
          <a:p>
            <a:pPr lvl="2"/>
            <a:r>
              <a:rPr lang="ko-KR" alt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기존 </a:t>
            </a:r>
            <a:r>
              <a:rPr lang="ko-KR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생성 능력 </a:t>
            </a:r>
            <a:r>
              <a:rPr lang="ko-KR" alt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유지</a:t>
            </a:r>
            <a:endParaRPr lang="en-US" altLang="ko-KR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2"/>
            <a:r>
              <a:rPr lang="ko-KR" alt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소량 </a:t>
            </a:r>
            <a:r>
              <a:rPr lang="en-US" altLang="ko-KR" dirty="0">
                <a:latin typeface="Times New Roman" panose="02020603050405020304" pitchFamily="18" charset="0"/>
                <a:cs typeface="Times New Roman" panose="02020603050405020304" pitchFamily="18" charset="0"/>
              </a:rPr>
              <a:t>HDR </a:t>
            </a:r>
            <a:r>
              <a:rPr lang="ko-KR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데이터 </a:t>
            </a:r>
            <a:r>
              <a:rPr lang="ko-KR" alt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사용</a:t>
            </a:r>
            <a:endParaRPr lang="en-US" altLang="ko-KR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altLang="ko-KR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Method Summary</a:t>
            </a:r>
          </a:p>
          <a:p>
            <a:pPr lvl="1"/>
            <a:r>
              <a:rPr lang="en-US" altLang="ko-KR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latent </a:t>
            </a:r>
            <a:r>
              <a:rPr lang="en-US" altLang="ko-KR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space</a:t>
            </a:r>
            <a:r>
              <a:rPr lang="ko-KR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에서</a:t>
            </a:r>
            <a:r>
              <a:rPr lang="en-US" altLang="ko-KR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</a:t>
            </a:r>
            <a:endParaRPr lang="en-US" altLang="ko-KR" sz="20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2"/>
            <a:r>
              <a:rPr lang="en-US" altLang="ko-KR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highlight </a:t>
            </a:r>
            <a:r>
              <a:rPr lang="en-US" altLang="ko-KR" dirty="0">
                <a:latin typeface="Times New Roman" panose="02020603050405020304" pitchFamily="18" charset="0"/>
                <a:cs typeface="Times New Roman" panose="02020603050405020304" pitchFamily="18" charset="0"/>
              </a:rPr>
              <a:t>/ shadow </a:t>
            </a:r>
            <a:r>
              <a:rPr lang="ko-KR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복원 </a:t>
            </a:r>
            <a:endParaRPr lang="en-US" altLang="ko-KR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2"/>
            <a:r>
              <a:rPr lang="en-US" altLang="ko-KR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missing </a:t>
            </a:r>
            <a:r>
              <a:rPr lang="en-US" altLang="ko-KR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detail hallucination </a:t>
            </a:r>
            <a:endParaRPr lang="en-US" altLang="ko-KR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/>
            <a:r>
              <a:rPr lang="en-US" altLang="ko-KR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decoder</a:t>
            </a:r>
            <a:r>
              <a:rPr lang="en-US" altLang="ko-KR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</a:t>
            </a:r>
            <a:endParaRPr lang="en-US" altLang="ko-KR" sz="20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2"/>
            <a:r>
              <a:rPr lang="en-US" altLang="ko-KR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linearization </a:t>
            </a:r>
          </a:p>
          <a:p>
            <a:pPr lvl="2"/>
            <a:r>
              <a:rPr lang="en-US" altLang="ko-KR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dynamic </a:t>
            </a:r>
            <a:r>
              <a:rPr lang="en-US" altLang="ko-KR" dirty="0">
                <a:latin typeface="Times New Roman" panose="02020603050405020304" pitchFamily="18" charset="0"/>
                <a:cs typeface="Times New Roman" panose="02020603050405020304" pitchFamily="18" charset="0"/>
              </a:rPr>
              <a:t>range </a:t>
            </a:r>
            <a:r>
              <a:rPr lang="ko-KR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확장</a:t>
            </a:r>
            <a:endParaRPr lang="en-US" altLang="ko-KR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/>
            <a:endParaRPr lang="en-US" altLang="ko-KR" sz="20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3"/>
            <a:endParaRPr lang="ko-KR" alt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964359737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Introduction</a:t>
            </a:r>
            <a:endParaRPr lang="ko-KR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altLang="ko-KR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Contribution</a:t>
            </a:r>
            <a:endParaRPr lang="en-US" altLang="ko-KR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/>
            <a:r>
              <a:rPr lang="en-US" altLang="ko-KR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1. Efficient HDR Fine-tuning</a:t>
            </a:r>
          </a:p>
          <a:p>
            <a:pPr lvl="2"/>
            <a:r>
              <a:rPr lang="en-US" altLang="ko-KR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pretrained</a:t>
            </a:r>
            <a:r>
              <a:rPr lang="en-US" altLang="ko-KR" dirty="0">
                <a:latin typeface="Times New Roman" panose="02020603050405020304" pitchFamily="18" charset="0"/>
                <a:cs typeface="Times New Roman" panose="02020603050405020304" pitchFamily="18" charset="0"/>
              </a:rPr>
              <a:t> latent space </a:t>
            </a:r>
            <a:r>
              <a:rPr lang="ko-KR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유지 </a:t>
            </a:r>
          </a:p>
          <a:p>
            <a:pPr lvl="2"/>
            <a:r>
              <a:rPr lang="ko-KR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소량 </a:t>
            </a:r>
            <a:r>
              <a:rPr lang="en-US" altLang="ko-KR" dirty="0">
                <a:latin typeface="Times New Roman" panose="02020603050405020304" pitchFamily="18" charset="0"/>
                <a:cs typeface="Times New Roman" panose="02020603050405020304" pitchFamily="18" charset="0"/>
              </a:rPr>
              <a:t>HDR </a:t>
            </a:r>
            <a:r>
              <a:rPr lang="ko-KR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데이터로</a:t>
            </a:r>
            <a:r>
              <a:rPr lang="en-US" altLang="ko-KR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</a:t>
            </a:r>
          </a:p>
          <a:p>
            <a:pPr lvl="3"/>
            <a:r>
              <a:rPr lang="en-US" altLang="ko-KR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dynamic range </a:t>
            </a:r>
            <a:r>
              <a:rPr lang="ko-KR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확장 </a:t>
            </a:r>
          </a:p>
          <a:p>
            <a:pPr lvl="3"/>
            <a:r>
              <a:rPr lang="en-US" altLang="ko-KR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highlight / shadow </a:t>
            </a:r>
            <a:r>
              <a:rPr lang="ko-KR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디테일 복원 </a:t>
            </a:r>
          </a:p>
          <a:p>
            <a:pPr lvl="1"/>
            <a:r>
              <a:rPr lang="en-US" altLang="ko-KR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2. Generative HDR Framework</a:t>
            </a:r>
          </a:p>
          <a:p>
            <a:pPr lvl="2"/>
            <a:r>
              <a:rPr lang="ko-KR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기존 </a:t>
            </a:r>
            <a:r>
              <a:rPr lang="en-US" altLang="ko-KR" dirty="0">
                <a:latin typeface="Times New Roman" panose="02020603050405020304" pitchFamily="18" charset="0"/>
                <a:cs typeface="Times New Roman" panose="02020603050405020304" pitchFamily="18" charset="0"/>
              </a:rPr>
              <a:t>diffusion </a:t>
            </a:r>
            <a:r>
              <a:rPr lang="ko-KR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모델 → </a:t>
            </a:r>
            <a:r>
              <a:rPr lang="en-US" altLang="ko-KR" dirty="0">
                <a:latin typeface="Times New Roman" panose="02020603050405020304" pitchFamily="18" charset="0"/>
                <a:cs typeface="Times New Roman" panose="02020603050405020304" pitchFamily="18" charset="0"/>
              </a:rPr>
              <a:t>HDR </a:t>
            </a:r>
            <a:r>
              <a:rPr lang="ko-KR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생성 가능 </a:t>
            </a:r>
          </a:p>
          <a:p>
            <a:pPr lvl="2"/>
            <a:r>
              <a:rPr lang="en-US" altLang="ko-KR" dirty="0">
                <a:latin typeface="Times New Roman" panose="02020603050405020304" pitchFamily="18" charset="0"/>
                <a:cs typeface="Times New Roman" panose="02020603050405020304" pitchFamily="18" charset="0"/>
              </a:rPr>
              <a:t>LDR → HDR </a:t>
            </a:r>
            <a:r>
              <a:rPr lang="ko-KR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변환에서도  </a:t>
            </a:r>
            <a:r>
              <a:rPr lang="en-US" altLang="ko-KR" dirty="0">
                <a:latin typeface="Times New Roman" panose="02020603050405020304" pitchFamily="18" charset="0"/>
                <a:cs typeface="Times New Roman" panose="02020603050405020304" pitchFamily="18" charset="0"/>
              </a:rPr>
              <a:t>SOTA </a:t>
            </a:r>
            <a:r>
              <a:rPr lang="ko-KR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성능</a:t>
            </a:r>
          </a:p>
          <a:p>
            <a:pPr marL="0" indent="0">
              <a:buNone/>
            </a:pPr>
            <a:endParaRPr lang="en-US" altLang="ko-KR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464132130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Preliminaries : Latent Diffusion Model (LDM)</a:t>
            </a:r>
            <a:endParaRPr lang="ko-KR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1036320" y="1869757"/>
            <a:ext cx="10515600" cy="1559243"/>
          </a:xfrm>
        </p:spPr>
        <p:txBody>
          <a:bodyPr>
            <a:normAutofit/>
          </a:bodyPr>
          <a:lstStyle/>
          <a:p>
            <a:r>
              <a:rPr lang="en-US" altLang="ko-KR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LDM (</a:t>
            </a:r>
            <a:r>
              <a:rPr lang="en-US" altLang="ko-KR" sz="20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a.k.a</a:t>
            </a:r>
            <a:r>
              <a:rPr lang="en-US" altLang="ko-KR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Stable Diffusion)</a:t>
            </a:r>
          </a:p>
          <a:p>
            <a:pPr lvl="1"/>
            <a:r>
              <a:rPr lang="en-US" altLang="ko-KR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VAE Encoder E : </a:t>
            </a:r>
            <a:r>
              <a:rPr lang="ko-KR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이미지 → </a:t>
            </a:r>
            <a:r>
              <a:rPr lang="en-US" altLang="ko-KR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latent</a:t>
            </a:r>
            <a:r>
              <a:rPr lang="ko-KR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로 압축</a:t>
            </a:r>
            <a:endParaRPr lang="en-US" altLang="ko-KR" sz="20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/>
            <a:r>
              <a:rPr lang="en-US" altLang="ko-KR" sz="20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Denoising</a:t>
            </a:r>
            <a:r>
              <a:rPr lang="en-US" altLang="ko-KR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U-Net (Diffusion) </a:t>
            </a:r>
          </a:p>
          <a:p>
            <a:pPr lvl="1"/>
            <a:r>
              <a:rPr lang="en-US" altLang="ko-KR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VAE Decoder : latent → </a:t>
            </a:r>
            <a:r>
              <a:rPr lang="ko-KR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이미지로 복원</a:t>
            </a:r>
            <a:endParaRPr lang="en-US" altLang="ko-KR" sz="20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lvl="1" indent="0">
              <a:buNone/>
            </a:pPr>
            <a:endParaRPr lang="ko-KR" alt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endParaRPr lang="en-US" altLang="ko-KR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8194" name="Picture 2" descr="Diffusion Transformer 논문 리뷰2] - High-Resolution Image Synthesis with Latent  Diffusion Models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638040" y="3170870"/>
            <a:ext cx="5958325" cy="289369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직사각형 4"/>
          <p:cNvSpPr/>
          <p:nvPr/>
        </p:nvSpPr>
        <p:spPr>
          <a:xfrm>
            <a:off x="152400" y="6176963"/>
            <a:ext cx="11455400" cy="5847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ko-KR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Rombach</a:t>
            </a:r>
            <a:r>
              <a:rPr lang="en-US" altLang="ko-KR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Robin, et al. "High-resolution image synthesis with latent diffusion models." Proceedings of the IEEE/CVF conference on computer vision and pattern recognition. 2022.</a:t>
            </a:r>
            <a:endParaRPr lang="ko-KR" alt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808568471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Preliminaries : </a:t>
            </a:r>
            <a:r>
              <a:rPr lang="ko-KR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왜 </a:t>
            </a:r>
            <a:r>
              <a:rPr lang="en-US" altLang="ko-KR" dirty="0">
                <a:latin typeface="Times New Roman" panose="02020603050405020304" pitchFamily="18" charset="0"/>
                <a:cs typeface="Times New Roman" panose="02020603050405020304" pitchFamily="18" charset="0"/>
              </a:rPr>
              <a:t>LDM</a:t>
            </a:r>
            <a:r>
              <a:rPr lang="ko-KR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은 </a:t>
            </a:r>
            <a:r>
              <a:rPr lang="en-US" altLang="ko-KR" dirty="0">
                <a:latin typeface="Times New Roman" panose="02020603050405020304" pitchFamily="18" charset="0"/>
                <a:cs typeface="Times New Roman" panose="02020603050405020304" pitchFamily="18" charset="0"/>
              </a:rPr>
              <a:t>HDR</a:t>
            </a:r>
            <a:r>
              <a:rPr lang="ko-KR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을 못 만드냐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838200" y="1825625"/>
            <a:ext cx="10317480" cy="4351338"/>
          </a:xfrm>
        </p:spPr>
        <p:txBody>
          <a:bodyPr>
            <a:noAutofit/>
          </a:bodyPr>
          <a:lstStyle/>
          <a:p>
            <a:r>
              <a:rPr lang="en-US" altLang="ko-KR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latent </a:t>
            </a:r>
            <a:r>
              <a:rPr lang="ko-KR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자체가 이미 “</a:t>
            </a:r>
            <a:r>
              <a:rPr lang="en-US" altLang="ko-KR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LDR </a:t>
            </a:r>
            <a:r>
              <a:rPr lang="ko-KR" alt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공간”이다</a:t>
            </a:r>
            <a:endParaRPr lang="en-US" altLang="ko-KR" sz="20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/>
            <a:r>
              <a:rPr lang="en-US" altLang="ko-KR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VAE</a:t>
            </a:r>
            <a:r>
              <a:rPr lang="ko-KR" altLang="en-US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가 </a:t>
            </a:r>
            <a:r>
              <a:rPr lang="en-US" altLang="ko-KR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LDR</a:t>
            </a:r>
            <a:r>
              <a:rPr lang="ko-KR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ko-KR" altLang="en-US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데이터로만 학습되어 있음</a:t>
            </a:r>
            <a:endParaRPr lang="en-US" altLang="ko-KR" sz="20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/>
            <a:r>
              <a:rPr lang="ko-KR" altLang="en-US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이에 따라 </a:t>
            </a:r>
            <a:r>
              <a:rPr lang="en-US" altLang="ko-KR" sz="20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denoiser</a:t>
            </a:r>
            <a:r>
              <a:rPr lang="ko-KR" altLang="en-US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도 </a:t>
            </a:r>
            <a:r>
              <a:rPr lang="en-US" altLang="ko-KR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LDR latent</a:t>
            </a:r>
            <a:r>
              <a:rPr lang="ko-KR" altLang="en-US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만 생성하도록 학습되어 있음</a:t>
            </a:r>
            <a:endParaRPr lang="en-US" altLang="ko-KR" sz="20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altLang="ko-KR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altLang="ko-KR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naive approach</a:t>
            </a:r>
          </a:p>
          <a:p>
            <a:pPr lvl="1"/>
            <a:r>
              <a:rPr lang="en-US" altLang="ko-KR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VAE + </a:t>
            </a:r>
            <a:r>
              <a:rPr lang="en-US" altLang="ko-KR" sz="20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Unet</a:t>
            </a:r>
            <a:r>
              <a:rPr lang="en-US" altLang="ko-KR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ko-KR" altLang="en-US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모두 </a:t>
            </a:r>
            <a:r>
              <a:rPr lang="en-US" altLang="ko-KR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HDR</a:t>
            </a:r>
            <a:r>
              <a:rPr lang="ko-KR" altLang="en-US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로 </a:t>
            </a:r>
            <a:r>
              <a:rPr lang="en-US" altLang="ko-KR" sz="20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finetune</a:t>
            </a:r>
            <a:r>
              <a:rPr lang="en-US" altLang="ko-KR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, training</a:t>
            </a:r>
          </a:p>
          <a:p>
            <a:pPr lvl="1"/>
            <a:r>
              <a:rPr lang="en-US" altLang="ko-KR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Too expensive</a:t>
            </a:r>
          </a:p>
          <a:p>
            <a:pPr lvl="1"/>
            <a:r>
              <a:rPr lang="en-US" altLang="ko-KR" sz="20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pretrained</a:t>
            </a:r>
            <a:r>
              <a:rPr lang="en-US" altLang="ko-KR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ko-KR" altLang="en-US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모델의 </a:t>
            </a:r>
            <a:r>
              <a:rPr lang="en-US" altLang="ko-KR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generative prior </a:t>
            </a:r>
            <a:r>
              <a:rPr lang="ko-KR" altLang="en-US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손상</a:t>
            </a:r>
            <a:endParaRPr lang="en-US" altLang="ko-KR" sz="20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altLang="ko-KR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altLang="ko-KR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latent space </a:t>
            </a:r>
            <a:r>
              <a:rPr lang="ko-KR" altLang="en-US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그대로 유지한다</a:t>
            </a:r>
            <a:r>
              <a:rPr lang="en-US" altLang="ko-KR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!</a:t>
            </a:r>
            <a:endParaRPr lang="en-US" altLang="ko-KR" sz="20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altLang="ko-KR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3"/>
            <a:endParaRPr lang="ko-KR" alt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6" name="그림 5"/>
          <p:cNvPicPr>
            <a:picLocks noChangeAspect="1"/>
          </p:cNvPicPr>
          <p:nvPr/>
        </p:nvPicPr>
        <p:blipFill rotWithShape="1">
          <a:blip r:embed="rId3"/>
          <a:srcRect l="3486"/>
          <a:stretch/>
        </p:blipFill>
        <p:spPr>
          <a:xfrm>
            <a:off x="6283960" y="2854903"/>
            <a:ext cx="5908040" cy="392499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04847012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Method</a:t>
            </a:r>
            <a:endParaRPr lang="ko-KR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4" name="그림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1468" y="1440452"/>
            <a:ext cx="11549063" cy="46301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3702767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>
                <a:latin typeface="Times New Roman" panose="02020603050405020304" pitchFamily="18" charset="0"/>
                <a:cs typeface="Times New Roman" panose="02020603050405020304" pitchFamily="18" charset="0"/>
              </a:rPr>
              <a:t>Merging Latent Exposure Brackets</a:t>
            </a:r>
            <a:endParaRPr lang="ko-KR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내용 개체 틀 2"/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/>
              </a:bodyPr>
              <a:lstStyle/>
              <a:p>
                <a:r>
                  <a:rPr lang="en-US" altLang="ko-KR" sz="2000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HDR image </a:t>
                </a:r>
                <a:r>
                  <a:rPr lang="en-US" altLang="ko-KR" sz="2000" i="1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H</a:t>
                </a:r>
                <a:r>
                  <a:rPr lang="en-US" altLang="ko-KR" sz="2000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ko-KR" altLang="en-US" sz="2000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→ 여러 </a:t>
                </a:r>
                <a:r>
                  <a:rPr lang="en-US" altLang="ko-KR" sz="2000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LDR image </a:t>
                </a:r>
                <a:r>
                  <a:rPr lang="ko-KR" altLang="en-US" sz="2000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생성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sz="20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altLang="ko-KR" sz="20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𝐼</m:t>
                        </m:r>
                      </m:e>
                      <m:sub>
                        <m:r>
                          <a:rPr lang="en-US" altLang="ko-KR" sz="20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−</m:t>
                        </m:r>
                      </m:sub>
                    </m:sSub>
                  </m:oMath>
                </a14:m>
                <a:r>
                  <a:rPr lang="en-US" altLang="ko-KR" sz="2000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sz="20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altLang="ko-KR" sz="20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𝐼</m:t>
                        </m:r>
                      </m:e>
                      <m:sub>
                        <m:r>
                          <a:rPr lang="en-US" altLang="ko-KR" sz="20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0</m:t>
                        </m:r>
                      </m:sub>
                    </m:sSub>
                  </m:oMath>
                </a14:m>
                <a:r>
                  <a:rPr lang="en-US" altLang="ko-KR" sz="2000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sz="20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altLang="ko-KR" sz="20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𝐼</m:t>
                        </m:r>
                      </m:e>
                      <m:sub>
                        <m:r>
                          <a:rPr lang="en-US" altLang="ko-KR" sz="20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+</m:t>
                        </m:r>
                      </m:sub>
                    </m:sSub>
                  </m:oMath>
                </a14:m>
                <a:endParaRPr lang="en-US" altLang="ko-KR" sz="2000" dirty="0" smtClean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r>
                  <a:rPr lang="en-US" altLang="ko-KR" sz="2000" dirty="0" err="1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Pretrained</a:t>
                </a:r>
                <a:r>
                  <a:rPr lang="en-US" altLang="ko-KR" sz="2000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VAE </a:t>
                </a:r>
                <a:r>
                  <a:rPr lang="en-US" altLang="ko-KR" sz="2000" dirty="0" err="1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Encdoer</a:t>
                </a:r>
                <a:r>
                  <a:rPr lang="en-US" altLang="ko-KR" sz="2000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altLang="ko-KR" sz="2000" i="1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𝐸</m:t>
                    </m:r>
                  </m:oMath>
                </a14:m>
                <a:endParaRPr lang="en-US" altLang="ko-KR" sz="2000" dirty="0" smtClean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lvl="1"/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sz="200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altLang="ko-KR" sz="20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𝐶</m:t>
                        </m:r>
                      </m:e>
                      <m:sub>
                        <m:r>
                          <a:rPr lang="en-US" altLang="ko-KR" sz="20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−</m:t>
                        </m:r>
                      </m:sub>
                    </m:sSub>
                    <m:r>
                      <a:rPr lang="en-US" altLang="ko-KR" sz="2000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,  </m:t>
                    </m:r>
                    <m:sSub>
                      <m:sSubPr>
                        <m:ctrlPr>
                          <a:rPr lang="en-US" altLang="ko-KR" sz="200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altLang="ko-KR" sz="20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𝐶</m:t>
                        </m:r>
                      </m:e>
                      <m:sub>
                        <m:r>
                          <a:rPr lang="en-US" altLang="ko-KR" sz="20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0</m:t>
                        </m:r>
                      </m:sub>
                    </m:sSub>
                  </m:oMath>
                </a14:m>
                <a:r>
                  <a:rPr lang="en-US" altLang="ko-KR" sz="2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sz="20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altLang="ko-KR" sz="20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𝐶</m:t>
                        </m:r>
                      </m:e>
                      <m:sub>
                        <m:r>
                          <a:rPr lang="en-US" altLang="ko-KR" sz="20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+</m:t>
                        </m:r>
                      </m:sub>
                    </m:sSub>
                    <m:r>
                      <a:rPr lang="en-US" altLang="ko-KR" sz="2000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=</m:t>
                    </m:r>
                    <m:r>
                      <a:rPr lang="en-US" altLang="ko-KR" sz="2000" i="1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𝐸</m:t>
                    </m:r>
                    <m:r>
                      <a:rPr lang="en-US" altLang="ko-KR" sz="2000" i="1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(</m:t>
                    </m:r>
                    <m:sSub>
                      <m:sSubPr>
                        <m:ctrlPr>
                          <a:rPr lang="en-US" altLang="ko-KR" sz="20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altLang="ko-KR" sz="20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𝐼</m:t>
                        </m:r>
                      </m:e>
                      <m:sub>
                        <m:r>
                          <a:rPr lang="en-US" altLang="ko-KR" sz="20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−</m:t>
                        </m:r>
                      </m:sub>
                    </m:sSub>
                    <m:r>
                      <m:rPr>
                        <m:nor/>
                      </m:rPr>
                      <a:rPr lang="en-US" altLang="ko-KR" sz="2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rPr>
                      <m:t>),</m:t>
                    </m:r>
                  </m:oMath>
                </a14:m>
                <a:r>
                  <a:rPr lang="en-US" altLang="ko-KR" sz="2000" dirty="0">
                    <a:cs typeface="Times New Roman" panose="020206030504050203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altLang="ko-KR" sz="2000" i="1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𝐸</m:t>
                    </m:r>
                    <m:r>
                      <a:rPr lang="en-US" altLang="ko-KR" sz="2000" i="1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(</m:t>
                    </m:r>
                    <m:sSub>
                      <m:sSubPr>
                        <m:ctrlPr>
                          <a:rPr lang="en-US" altLang="ko-KR" sz="20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altLang="ko-KR" sz="20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𝐼</m:t>
                        </m:r>
                      </m:e>
                      <m:sub>
                        <m:r>
                          <a:rPr lang="en-US" altLang="ko-KR" sz="20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0</m:t>
                        </m:r>
                      </m:sub>
                    </m:sSub>
                  </m:oMath>
                </a14:m>
                <a:r>
                  <a:rPr lang="en-US" altLang="ko-KR" sz="2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), </a:t>
                </a:r>
                <a14:m>
                  <m:oMath xmlns:m="http://schemas.openxmlformats.org/officeDocument/2006/math">
                    <m:r>
                      <a:rPr lang="en-US" altLang="ko-KR" sz="2000" i="1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𝐸</m:t>
                    </m:r>
                    <m:r>
                      <a:rPr lang="en-US" altLang="ko-KR" sz="2000" i="1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(</m:t>
                    </m:r>
                    <m:sSub>
                      <m:sSubPr>
                        <m:ctrlPr>
                          <a:rPr lang="en-US" altLang="ko-KR" sz="20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altLang="ko-KR" sz="20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𝐼</m:t>
                        </m:r>
                      </m:e>
                      <m:sub>
                        <m:r>
                          <a:rPr lang="en-US" altLang="ko-KR" sz="20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+</m:t>
                        </m:r>
                      </m:sub>
                    </m:sSub>
                  </m:oMath>
                </a14:m>
                <a:r>
                  <a:rPr lang="en-US" altLang="ko-KR" sz="2000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)</a:t>
                </a:r>
              </a:p>
              <a:p>
                <a:r>
                  <a:rPr lang="en-US" altLang="ko-KR" sz="2000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Training learnable module </a:t>
                </a:r>
                <a14:m>
                  <m:oMath xmlns:m="http://schemas.openxmlformats.org/officeDocument/2006/math">
                    <m:r>
                      <a:rPr lang="en-US" altLang="ko-KR" sz="2000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𝐹</m:t>
                    </m:r>
                  </m:oMath>
                </a14:m>
                <a:endParaRPr lang="en-US" altLang="ko-KR" sz="2000" dirty="0" smtClean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lvl="1"/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sz="20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altLang="ko-KR" sz="20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𝐶</m:t>
                        </m:r>
                      </m:e>
                      <m:sub>
                        <m:r>
                          <a:rPr lang="en-US" altLang="ko-KR" sz="20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𝑚𝑒𝑟𝑔𝑒</m:t>
                        </m:r>
                      </m:sub>
                    </m:sSub>
                    <m:r>
                      <a:rPr lang="en-US" altLang="ko-KR" sz="2000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=</m:t>
                    </m:r>
                    <m:r>
                      <a:rPr lang="en-US" altLang="ko-KR" sz="200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𝐹</m:t>
                    </m:r>
                    <m:r>
                      <a:rPr lang="en-US" altLang="ko-KR" sz="2000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(</m:t>
                    </m:r>
                    <m:sSub>
                      <m:sSubPr>
                        <m:ctrlPr>
                          <a:rPr lang="en-US" altLang="ko-KR" sz="20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altLang="ko-KR" sz="20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𝐶</m:t>
                        </m:r>
                      </m:e>
                      <m:sub>
                        <m:r>
                          <a:rPr lang="en-US" altLang="ko-KR" sz="20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−</m:t>
                        </m:r>
                      </m:sub>
                    </m:sSub>
                    <m:r>
                      <a:rPr lang="en-US" altLang="ko-KR" sz="2000" i="1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,  </m:t>
                    </m:r>
                    <m:sSub>
                      <m:sSubPr>
                        <m:ctrlPr>
                          <a:rPr lang="en-US" altLang="ko-KR" sz="20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altLang="ko-KR" sz="20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𝐶</m:t>
                        </m:r>
                      </m:e>
                      <m:sub>
                        <m:r>
                          <a:rPr lang="en-US" altLang="ko-KR" sz="20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0</m:t>
                        </m:r>
                      </m:sub>
                    </m:sSub>
                    <m:r>
                      <m:rPr>
                        <m:nor/>
                      </m:rPr>
                      <a:rPr lang="en-US" altLang="ko-KR" sz="2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rPr>
                      <m:t>, </m:t>
                    </m:r>
                    <m:sSub>
                      <m:sSubPr>
                        <m:ctrlPr>
                          <a:rPr lang="en-US" altLang="ko-KR" sz="20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altLang="ko-KR" sz="20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𝐶</m:t>
                        </m:r>
                      </m:e>
                      <m:sub>
                        <m:r>
                          <a:rPr lang="en-US" altLang="ko-KR" sz="20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+</m:t>
                        </m:r>
                      </m:sub>
                    </m:sSub>
                  </m:oMath>
                </a14:m>
                <a:r>
                  <a:rPr lang="en-US" altLang="ko-KR" sz="2000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)</a:t>
                </a:r>
              </a:p>
              <a:p>
                <a:r>
                  <a:rPr lang="en-US" altLang="ko-KR" sz="2000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Fine-</a:t>
                </a:r>
                <a:r>
                  <a:rPr lang="en-US" altLang="ko-KR" sz="2000" dirty="0" err="1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tuining</a:t>
                </a:r>
                <a:r>
                  <a:rPr lang="en-US" altLang="ko-KR" sz="2000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VAE Decoder </a:t>
                </a:r>
                <a14:m>
                  <m:oMath xmlns:m="http://schemas.openxmlformats.org/officeDocument/2006/math">
                    <m:r>
                      <a:rPr lang="en-US" altLang="ko-KR" sz="2000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𝐷</m:t>
                    </m:r>
                  </m:oMath>
                </a14:m>
                <a:endParaRPr lang="en-US" altLang="ko-KR" sz="2000" dirty="0" smtClean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lvl="1"/>
                <a14:m>
                  <m:oMath xmlns:m="http://schemas.openxmlformats.org/officeDocument/2006/math">
                    <m:acc>
                      <m:accPr>
                        <m:chr m:val="̂"/>
                        <m:ctrlPr>
                          <a:rPr lang="en-US" altLang="ko-KR" sz="2000" b="0" i="1" dirty="0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accPr>
                      <m:e>
                        <m:r>
                          <a:rPr lang="en-US" altLang="ko-KR" sz="2000" b="0" i="1" dirty="0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𝐻</m:t>
                        </m:r>
                      </m:e>
                    </m:acc>
                    <m:r>
                      <a:rPr lang="en-US" altLang="ko-KR" sz="2000" i="1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=</m:t>
                    </m:r>
                    <m:r>
                      <a:rPr lang="en-US" altLang="ko-KR" sz="2000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𝐷</m:t>
                    </m:r>
                    <m:r>
                      <a:rPr lang="en-US" altLang="ko-KR" sz="2000" i="1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(</m:t>
                    </m:r>
                    <m:sSub>
                      <m:sSubPr>
                        <m:ctrlPr>
                          <a:rPr lang="en-US" altLang="ko-KR" sz="20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altLang="ko-KR" sz="20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𝐶</m:t>
                        </m:r>
                      </m:e>
                      <m:sub>
                        <m:r>
                          <a:rPr lang="en-US" altLang="ko-KR" sz="20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𝑚𝑒𝑟𝑔𝑒</m:t>
                        </m:r>
                      </m:sub>
                    </m:sSub>
                  </m:oMath>
                </a14:m>
                <a:r>
                  <a:rPr lang="en-US" altLang="ko-KR" sz="2000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)</a:t>
                </a:r>
                <a:endParaRPr lang="en-US" altLang="ko-KR" sz="20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lvl="1"/>
                <a:endParaRPr lang="en-US" altLang="ko-KR" sz="20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3" name="내용 개체 틀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522" t="-1541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4" name="그림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75347" y="4726450"/>
            <a:ext cx="4148773" cy="5465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52296682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Generating Latent </a:t>
            </a:r>
            <a:r>
              <a:rPr lang="en-US" altLang="ko-KR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Exposure Brackets</a:t>
            </a:r>
            <a:endParaRPr lang="ko-KR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내용 개체 틀 2"/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/>
              </a:bodyPr>
              <a:lstStyle/>
              <a:p>
                <a:r>
                  <a:rPr lang="ko-KR" altLang="en-US" sz="2400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단일 </a:t>
                </a:r>
                <a:r>
                  <a:rPr lang="en-US" altLang="ko-KR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LDR latent code C</a:t>
                </a:r>
                <a:r>
                  <a:rPr lang="ko-KR" altLang="en-US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가 주어졌을 때</a:t>
                </a:r>
                <a:r>
                  <a:rPr lang="en-US" altLang="ko-KR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, </a:t>
                </a:r>
                <a:r>
                  <a:rPr lang="ko-KR" altLang="en-US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이를 </a:t>
                </a:r>
                <a:r>
                  <a:rPr lang="en-US" altLang="ko-KR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exposure bracket {C−,C0</a:t>
                </a:r>
                <a:r>
                  <a:rPr lang="en-US" altLang="ko-KR" sz="2400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, C</a:t>
                </a:r>
                <a:r>
                  <a:rPr lang="en-US" altLang="ko-KR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+}</a:t>
                </a:r>
                <a:r>
                  <a:rPr lang="ko-KR" altLang="en-US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로 </a:t>
                </a:r>
                <a:r>
                  <a:rPr lang="ko-KR" altLang="en-US" sz="2400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확장</a:t>
                </a:r>
                <a:endParaRPr lang="en-US" altLang="ko-KR" sz="2400" dirty="0" smtClean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lvl="1"/>
                <a:r>
                  <a:rPr lang="en-US" altLang="ko-KR" sz="2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Text-to-HDR generation</a:t>
                </a:r>
              </a:p>
              <a:p>
                <a:pPr lvl="1"/>
                <a:r>
                  <a:rPr lang="en-US" altLang="ko-KR" sz="2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LDR-to-HDR </a:t>
                </a:r>
                <a:r>
                  <a:rPr lang="en-US" altLang="ko-KR" sz="2000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conversion</a:t>
                </a:r>
              </a:p>
              <a:p>
                <a:r>
                  <a:rPr lang="en-US" altLang="ko-KR" sz="2400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Highlight</a:t>
                </a:r>
                <a:r>
                  <a:rPr lang="ko-KR" altLang="en-US" sz="2400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altLang="ko-KR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hallucination </a:t>
                </a:r>
                <a:r>
                  <a:rPr lang="en-US" altLang="ko-KR" sz="2400" dirty="0" err="1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denoiser</a:t>
                </a:r>
                <a:r>
                  <a:rPr lang="en-US" altLang="ko-KR" sz="2400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sz="24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altLang="ko-KR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∈</m:t>
                        </m:r>
                      </m:e>
                      <m:sub>
                        <m:sSub>
                          <m:sSubPr>
                            <m:ctrlPr>
                              <a:rPr lang="en-US" altLang="ko-KR" sz="2400" i="1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sSubPr>
                          <m:e>
                            <m:r>
                              <a:rPr lang="ko-KR" altLang="en-US" sz="2400" i="1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𝜃</m:t>
                            </m:r>
                          </m:e>
                          <m:sub>
                            <m:r>
                              <a:rPr lang="en-US" altLang="ko-KR" sz="2400" b="0" i="1" smtClean="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−</m:t>
                            </m:r>
                          </m:sub>
                        </m:sSub>
                      </m:sub>
                    </m:sSub>
                  </m:oMath>
                </a14:m>
                <a:endParaRPr lang="en-US" altLang="ko-KR" sz="2400" dirty="0" smtClean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lvl="1"/>
                <a:r>
                  <a:rPr lang="en-US" altLang="ko-KR" sz="2000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Fine-tuning LDM </a:t>
                </a:r>
                <a:r>
                  <a:rPr lang="en-US" altLang="ko-KR" sz="2000" dirty="0" err="1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denoiser</a:t>
                </a:r>
                <a:endParaRPr lang="en-US" altLang="ko-KR" sz="2000" dirty="0" smtClean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lvl="1"/>
                <a:endParaRPr lang="en-US" altLang="ko-KR" sz="2000" dirty="0" smtClean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r>
                  <a:rPr lang="en-US" altLang="ko-KR" sz="2400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Shadow hallucination </a:t>
                </a:r>
                <a:r>
                  <a:rPr lang="en-US" altLang="ko-KR" sz="2400" dirty="0" err="1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denoiser</a:t>
                </a:r>
                <a:r>
                  <a:rPr lang="en-US" altLang="ko-KR" sz="2400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sz="240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altLang="ko-KR" sz="240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∈</m:t>
                        </m:r>
                      </m:e>
                      <m:sub>
                        <m:sSub>
                          <m:sSubPr>
                            <m:ctrlPr>
                              <a:rPr lang="en-US" altLang="ko-KR" sz="2400" i="1" smtClean="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sSubPr>
                          <m:e>
                            <m:r>
                              <a:rPr lang="ko-KR" altLang="en-US" sz="2400" i="1" smtClean="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𝜃</m:t>
                            </m:r>
                          </m:e>
                          <m:sub>
                            <m:r>
                              <a:rPr lang="en-US" altLang="ko-KR" sz="2400" b="0" i="1" smtClean="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+</m:t>
                            </m:r>
                          </m:sub>
                        </m:sSub>
                      </m:sub>
                    </m:sSub>
                  </m:oMath>
                </a14:m>
                <a:endParaRPr lang="en-US" altLang="ko-KR" sz="2400" dirty="0" smtClean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lvl="1"/>
                <a:r>
                  <a:rPr lang="en-US" altLang="ko-KR" sz="2000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Fine-tuning </a:t>
                </a:r>
                <a:r>
                  <a:rPr lang="en-US" altLang="ko-KR" sz="2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LDM </a:t>
                </a:r>
                <a:r>
                  <a:rPr lang="en-US" altLang="ko-KR" sz="200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denoiser</a:t>
                </a:r>
                <a:endParaRPr lang="en-US" altLang="ko-KR" sz="20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lvl="1"/>
                <a:endParaRPr lang="en-US" altLang="ko-KR" sz="20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lvl="1"/>
                <a:endParaRPr lang="en-US" altLang="ko-KR" sz="20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3" name="내용 개체 틀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812" t="-2101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5" name="그림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05941" y="2371679"/>
            <a:ext cx="3776359" cy="42180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39903932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그림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81137" y="1200150"/>
            <a:ext cx="9229725" cy="44577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97481218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그림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81112" y="1257300"/>
            <a:ext cx="9629775" cy="4343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81708708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12800" y="1435283"/>
            <a:ext cx="10756900" cy="398743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86348406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617272" y="272987"/>
            <a:ext cx="10987630" cy="6011212"/>
          </a:xfrm>
        </p:spPr>
        <p:txBody>
          <a:bodyPr/>
          <a:lstStyle/>
          <a:p>
            <a:r>
              <a:rPr lang="en-US" altLang="ko-KR" dirty="0" smtClean="0">
                <a:hlinkClick r:id="rId2"/>
              </a:rPr>
              <a:t>https://www.hdrsoft.com/resources/dri.html#hdri</a:t>
            </a:r>
            <a:endParaRPr lang="en-US" altLang="ko-KR" dirty="0" smtClean="0"/>
          </a:p>
          <a:p>
            <a:r>
              <a:rPr lang="en-US" altLang="ko-KR" dirty="0" smtClean="0">
                <a:hlinkClick r:id="rId3"/>
              </a:rPr>
              <a:t>https://www.anyhere.com/gward/hdrenc/hdr_encodings.html</a:t>
            </a:r>
            <a:endParaRPr lang="en-US" altLang="ko-KR" dirty="0" smtClean="0"/>
          </a:p>
          <a:p>
            <a:r>
              <a:rPr lang="en-US" altLang="ko-KR" dirty="0" smtClean="0">
                <a:hlinkClick r:id="rId4"/>
              </a:rPr>
              <a:t>https://openexr.com/en/latest/TechnicalIntroduction.html#the-half-data-type</a:t>
            </a:r>
            <a:endParaRPr lang="en-US" altLang="ko-KR" dirty="0" smtClean="0"/>
          </a:p>
          <a:p>
            <a:r>
              <a:rPr lang="en-US" altLang="ko-KR" dirty="0" smtClean="0">
                <a:hlinkClick r:id="rId5"/>
              </a:rPr>
              <a:t>https://www.cgkorea.co.kr/global/library/The_Ins_and_Outs_of_HDR_What_is_HDR.html</a:t>
            </a:r>
            <a:endParaRPr lang="en-US" altLang="ko-KR" dirty="0" smtClean="0"/>
          </a:p>
          <a:p>
            <a:r>
              <a:rPr lang="en-US" altLang="ko-KR" dirty="0" smtClean="0">
                <a:hlinkClick r:id="rId6"/>
              </a:rPr>
              <a:t>https://doinghun.com/image-signal-processing-isp/</a:t>
            </a:r>
            <a:endParaRPr lang="en-US" altLang="ko-KR" dirty="0" smtClean="0"/>
          </a:p>
          <a:p>
            <a:r>
              <a:rPr lang="en-US" altLang="ko-KR" dirty="0" smtClean="0">
                <a:hlinkClick r:id="rId7"/>
              </a:rPr>
              <a:t>https://news.samsungdisplay.com/14820</a:t>
            </a:r>
            <a:endParaRPr lang="en-US" altLang="ko-KR" dirty="0" smtClean="0"/>
          </a:p>
          <a:p>
            <a:r>
              <a:rPr lang="en-US" altLang="ko-KR" dirty="0" smtClean="0">
                <a:hlinkClick r:id="rId8"/>
              </a:rPr>
              <a:t>https://en.wikipedia.org/wiki/High_dynamic_range#High-dynamic-range_imaging</a:t>
            </a:r>
            <a:endParaRPr lang="en-US" altLang="ko-KR" dirty="0" smtClean="0"/>
          </a:p>
          <a:p>
            <a:r>
              <a:rPr lang="en-US" altLang="ko-KR" dirty="0" smtClean="0">
                <a:hlinkClick r:id="rId9"/>
              </a:rPr>
              <a:t>https://docs.opencv.org/3.4/d2/df0/tutorial_py_hdr.html</a:t>
            </a:r>
            <a:endParaRPr lang="en-US" altLang="ko-KR" dirty="0" smtClean="0"/>
          </a:p>
          <a:p>
            <a:r>
              <a:rPr lang="en-US" altLang="ko-KR" dirty="0"/>
              <a:t>https://www.cl.cam.ac.uk/~rkm38/pdfs/mantiuk15hdri.pdf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95785429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4142</TotalTime>
  <Words>1045</Words>
  <Application>Microsoft Office PowerPoint</Application>
  <PresentationFormat>와이드스크린</PresentationFormat>
  <Paragraphs>193</Paragraphs>
  <Slides>27</Slides>
  <Notes>3</Notes>
  <HiddenSlides>0</HiddenSlides>
  <MMClips>0</MMClips>
  <ScaleCrop>false</ScaleCrop>
  <HeadingPairs>
    <vt:vector size="6" baseType="variant">
      <vt:variant>
        <vt:lpstr>사용한 글꼴</vt:lpstr>
      </vt:variant>
      <vt:variant>
        <vt:i4>4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27</vt:i4>
      </vt:variant>
    </vt:vector>
  </HeadingPairs>
  <TitlesOfParts>
    <vt:vector size="32" baseType="lpstr">
      <vt:lpstr>맑은 고딕</vt:lpstr>
      <vt:lpstr>Arial</vt:lpstr>
      <vt:lpstr>Cambria Math</vt:lpstr>
      <vt:lpstr>Times New Roman</vt:lpstr>
      <vt:lpstr>Office 테마</vt:lpstr>
      <vt:lpstr>PowerPoint 프레젠테이션</vt:lpstr>
      <vt:lpstr>Backgrounds</vt:lpstr>
      <vt:lpstr>Dynamic Range (DR)</vt:lpstr>
      <vt:lpstr>DR depends on “what system”</vt:lpstr>
      <vt:lpstr>Key mismatch</vt:lpstr>
      <vt:lpstr>LDR &amp; HDR</vt:lpstr>
      <vt:lpstr>LDR &amp; HDR  Pixel Representation &amp; Bit Depth</vt:lpstr>
      <vt:lpstr>LDR &amp; HDR  Pixel Representation &amp; Bit Depth</vt:lpstr>
      <vt:lpstr>HDR Imaging (HDRI, HDR Reconstruction)</vt:lpstr>
      <vt:lpstr>HDR Imaging (HDRI, HDR Reconstruction)</vt:lpstr>
      <vt:lpstr>PowerPoint 프레젠테이션</vt:lpstr>
      <vt:lpstr>Multi-Exposure Techniques</vt:lpstr>
      <vt:lpstr>PowerPoint 프레젠테이션</vt:lpstr>
      <vt:lpstr>Multi-Exposure Techniques</vt:lpstr>
      <vt:lpstr>LEDiff: Latent Exposure Diffusion for HDR Generation</vt:lpstr>
      <vt:lpstr>Introduction</vt:lpstr>
      <vt:lpstr>Introduction</vt:lpstr>
      <vt:lpstr>Introduction</vt:lpstr>
      <vt:lpstr>Preliminaries : Latent Diffusion Model (LDM)</vt:lpstr>
      <vt:lpstr>Preliminaries : 왜 LDM은 HDR을 못 만드냐</vt:lpstr>
      <vt:lpstr>Method</vt:lpstr>
      <vt:lpstr>Merging Latent Exposure Brackets</vt:lpstr>
      <vt:lpstr>Generating Latent Exposure Brackets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tblee</dc:creator>
  <cp:lastModifiedBy>tblee</cp:lastModifiedBy>
  <cp:revision>147</cp:revision>
  <cp:lastPrinted>2026-04-27T08:16:49Z</cp:lastPrinted>
  <dcterms:created xsi:type="dcterms:W3CDTF">2026-04-21T01:07:51Z</dcterms:created>
  <dcterms:modified xsi:type="dcterms:W3CDTF">2026-04-27T08:18:16Z</dcterms:modified>
</cp:coreProperties>
</file>